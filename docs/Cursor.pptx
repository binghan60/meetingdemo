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79A3F852-8CAD-4FF0-A7AF-D40E4EE2C7FE}">
  <a:tblStyle styleId="{79A3F852-8CAD-4FF0-A7AF-D40E4EE2C7FE}" styleName="Table_0">
    <a:wholeTbl>
      <a:tcTxStyle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71679" name="Google Shape;3;n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4011744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254731" name="Google Shape;51;p:notes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9772585" name="Google Shape;52;p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380173" name="Google Shape;57;g3d7e4f31a62_0_45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060326" name="Google Shape;58;g3d7e4f31a62_0_4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006801" name="Google Shape;65;g3d7e63e70b1_0_7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8793366" name="Google Shape;66;g3d7e63e70b1_0_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757751" name="Google Shape;72;g3d7e63e70b1_0_13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193813" name="Google Shape;73;g3d7e63e70b1_0_1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132694" name="Google Shape;86;g3da4d1d07b7_0_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520771" name="Google Shape;87;g3da4d1d07b7_0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70120" name="Google Shape;79;g3d7e63e70b1_0_42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970173" name="Google Shape;80;g3d7e63e70b1_0_4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478140" name="Google Shape;92;g3da4d1d07b7_0_9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131321" name="Google Shape;93;g3da4d1d07b7_0_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561116" name="Google Shape;99;g3da4d1d07b7_0_15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082442" name="Google Shape;100;g3da4d1d07b7_0_1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82224" name="Google Shape;106;g3d7e63e70b1_0_37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422888" name="Google Shape;107;g3d7e63e70b1_0_3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462310" name="Google Shape;10;p2"/>
          <p:cNvSpPr txBox="1"/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1798102725" name="Google Shape;11;p2"/>
          <p:cNvSpPr txBox="1"/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460873730" name="Google Shape;12;p2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238549" name="Google Shape;14;p3"/>
          <p:cNvSpPr txBox="1"/>
          <p:nvPr>
            <p:ph type="title"/>
          </p:nvPr>
        </p:nvSpPr>
        <p:spPr bwMode="auto"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37010712" name="Google Shape;15;p3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406334" name="Google Shape;17;p4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23927043" name="Google Shape;18;p4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6351876" name="Google Shape;19;p4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789920" name="Google Shape;21;p5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733328" name="Google Shape;22;p5"/>
          <p:cNvSpPr txBox="1"/>
          <p:nvPr>
            <p:ph type="body" idx="1"/>
          </p:nvPr>
        </p:nvSpPr>
        <p:spPr bwMode="auto"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260244357" name="Google Shape;23;p5"/>
          <p:cNvSpPr txBox="1"/>
          <p:nvPr>
            <p:ph type="body" idx="2"/>
          </p:nvPr>
        </p:nvSpPr>
        <p:spPr bwMode="auto">
          <a:xfrm>
            <a:off x="4832399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734235400" name="Google Shape;24;p5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371257" name="Google Shape;26;p6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0334180" name="Google Shape;27;p6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6529" name="Google Shape;29;p7"/>
          <p:cNvSpPr txBox="1"/>
          <p:nvPr>
            <p:ph type="title"/>
          </p:nvPr>
        </p:nvSpPr>
        <p:spPr bwMode="auto"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862613279" name="Google Shape;30;p7"/>
          <p:cNvSpPr txBox="1"/>
          <p:nvPr>
            <p:ph type="body" idx="1"/>
          </p:nvPr>
        </p:nvSpPr>
        <p:spPr bwMode="auto"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663234032" name="Google Shape;31;p7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070423" name="Google Shape;33;p8"/>
          <p:cNvSpPr txBox="1"/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191905066" name="Google Shape;34;p8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575178" name="Google Shape;36;p9"/>
          <p:cNvSpPr/>
          <p:nvPr/>
        </p:nvSpPr>
        <p:spPr bwMode="auto"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28898266" name="Google Shape;37;p9"/>
          <p:cNvSpPr txBox="1"/>
          <p:nvPr>
            <p:ph type="title"/>
          </p:nvPr>
        </p:nvSpPr>
        <p:spPr bwMode="auto">
          <a:xfrm>
            <a:off x="265500" y="1233175"/>
            <a:ext cx="4045199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1446948453" name="Google Shape;38;p9"/>
          <p:cNvSpPr txBox="1"/>
          <p:nvPr>
            <p:ph type="subTitle" idx="1"/>
          </p:nvPr>
        </p:nvSpPr>
        <p:spPr bwMode="auto">
          <a:xfrm>
            <a:off x="265500" y="2803075"/>
            <a:ext cx="4045199" cy="1235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1478473535" name="Google Shape;39;p9"/>
          <p:cNvSpPr txBox="1"/>
          <p:nvPr>
            <p:ph type="body" idx="2"/>
          </p:nvPr>
        </p:nvSpPr>
        <p:spPr bwMode="auto"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88650699" name="Google Shape;40;p9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598708" name="Google Shape;42;p10"/>
          <p:cNvSpPr txBox="1"/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01207412" name="Google Shape;43;p10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605990" name="Google Shape;45;p11"/>
          <p:cNvSpPr txBox="1"/>
          <p:nvPr>
            <p:ph type="title" hasCustomPrompt="1"/>
          </p:nvPr>
        </p:nvSpPr>
        <p:spPr bwMode="auto"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845835695" name="Google Shape;46;p11"/>
          <p:cNvSpPr txBox="1"/>
          <p:nvPr>
            <p:ph type="body" idx="1"/>
          </p:nvPr>
        </p:nvSpPr>
        <p:spPr bwMode="auto"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26433252" name="Google Shape;47;p11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903887" name="Google Shape;49;p12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dark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145305" name="Google Shape;6;p1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27383471" name="Google Shape;7;p1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57900964" name="Google Shape;8;p1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891337" name="Google Shape;54;p13"/>
          <p:cNvSpPr txBox="1"/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TW"/>
              <a:t>Cursor </a:t>
            </a:r>
            <a:r>
              <a:rPr lang="zh-TW"/>
              <a:t>簡介</a:t>
            </a:r>
            <a:endParaRPr/>
          </a:p>
        </p:txBody>
      </p:sp>
      <p:sp>
        <p:nvSpPr>
          <p:cNvPr id="1998295601" name="Google Shape;55;p13"/>
          <p:cNvSpPr txBox="1"/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TW"/>
              <a:t>日期:2026.03.26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br>
              <a:rPr lang="zh-TW"/>
            </a:br>
            <a:r>
              <a:rPr lang="zh-TW"/>
              <a:t>主講人: 劉郁貞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9379203" name="Google Shape;60;p14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TW"/>
              <a:t>調整顏色</a:t>
            </a:r>
            <a:endParaRPr/>
          </a:p>
        </p:txBody>
      </p:sp>
      <p:sp>
        <p:nvSpPr>
          <p:cNvPr id="2089829773" name="Google Shape;61;p14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pic>
        <p:nvPicPr>
          <p:cNvPr id="1745306339" name="Google Shape;62;p14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498725" y="1307923"/>
            <a:ext cx="3596874" cy="310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5883" name="Google Shape;63;p14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4572000" y="1268537"/>
            <a:ext cx="4195426" cy="31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311852" name="Google Shape;68;p15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44277200" name="Google Shape;69;p15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pic>
        <p:nvPicPr>
          <p:cNvPr id="1852467253" name="Google Shape;70;p15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556850" y="724426"/>
            <a:ext cx="7844699" cy="407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618439" name="Google Shape;75;p16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TW"/>
              <a:t>一些指令</a:t>
            </a:r>
            <a:endParaRPr/>
          </a:p>
        </p:txBody>
      </p:sp>
      <p:sp>
        <p:nvSpPr>
          <p:cNvPr id="1442235066" name="Google Shape;76;p16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pPr>
            <a:r>
              <a:rPr lang="zh-TW" sz="1200">
                <a:solidFill>
                  <a:schemeClr val="dk1"/>
                </a:solidFill>
                <a:highlight>
                  <a:schemeClr val="lt1"/>
                </a:highlight>
              </a:rPr>
              <a:t>單獨檔案篇：參考 </a:t>
            </a:r>
            <a:r>
              <a:rPr lang="zh-TW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</a:rPr>
              <a:t>@OOXX</a:t>
            </a:r>
            <a:r>
              <a:rPr lang="zh-TW" sz="1200">
                <a:solidFill>
                  <a:schemeClr val="dk1"/>
                </a:solidFill>
                <a:highlight>
                  <a:schemeClr val="lt1"/>
                </a:highlight>
              </a:rPr>
              <a:t>，幫我依據此程式碼，生成新的 {實作 / 測試 / 模板…等}。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048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pPr>
            <a:r>
              <a:rPr lang="zh-TW" sz="1200">
                <a:solidFill>
                  <a:schemeClr val="dk1"/>
                </a:solidFill>
                <a:highlight>
                  <a:schemeClr val="lt1"/>
                </a:highlight>
              </a:rPr>
              <a:t>解釋檔案篇：</a:t>
            </a:r>
            <a:r>
              <a:rPr lang="zh-TW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</a:rPr>
              <a:t>@codebase</a:t>
            </a:r>
            <a:r>
              <a:rPr lang="zh-TW" sz="1200">
                <a:solidFill>
                  <a:schemeClr val="dk1"/>
                </a:solidFill>
                <a:highlight>
                  <a:schemeClr val="lt1"/>
                </a:highlight>
              </a:rPr>
              <a:t>，請幫我找到跟 {你要問的功能} 有關的程式碼 ，列出檔案並解釋其中內容。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10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pic>
        <p:nvPicPr>
          <p:cNvPr id="2036740193" name="Google Shape;77;p16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4296200" y="1855950"/>
            <a:ext cx="4256199" cy="309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777273" name="Google Shape;89;p18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TW"/>
              <a:t>聊天模式</a:t>
            </a:r>
            <a:endParaRPr/>
          </a:p>
        </p:txBody>
      </p:sp>
      <p:sp>
        <p:nvSpPr>
          <p:cNvPr id="1514494271" name="Google Shape;90;p18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TW"/>
              <a:t>Agent -  幫我做完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zh-TW"/>
              <a:t>Plan - 先規劃、後執行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zh-TW"/>
              <a:t>Debug - 為什麼報錯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zh-TW"/>
              <a:t>Ask - 這是什麼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225696" name="Google Shape;82;p17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TW"/>
              <a:t>fix with agent</a:t>
            </a:r>
            <a:endParaRPr/>
          </a:p>
        </p:txBody>
      </p:sp>
      <p:sp>
        <p:nvSpPr>
          <p:cNvPr id="1119934966" name="Google Shape;83;p17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pic>
        <p:nvPicPr>
          <p:cNvPr id="1711782656" name="Google Shape;84;p17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409925" y="1467351"/>
            <a:ext cx="8066777" cy="209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129530" name="Google Shape;95;p19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TW"/>
              <a:t>區塊處理</a:t>
            </a:r>
            <a:endParaRPr/>
          </a:p>
        </p:txBody>
      </p:sp>
      <p:sp>
        <p:nvSpPr>
          <p:cNvPr id="982464265" name="Google Shape;96;p19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pic>
        <p:nvPicPr>
          <p:cNvPr id="629428508" name="Google Shape;97;p19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434424" y="1478349"/>
            <a:ext cx="7926076" cy="218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010983" name="Google Shape;102;p20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TW"/>
              <a:t>下方功能</a:t>
            </a:r>
            <a:endParaRPr/>
          </a:p>
        </p:txBody>
      </p:sp>
      <p:sp>
        <p:nvSpPr>
          <p:cNvPr id="670743494" name="Google Shape;103;p20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pic>
        <p:nvPicPr>
          <p:cNvPr id="2126694510" name="Google Shape;104;p20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439325" y="1915313"/>
            <a:ext cx="8104651" cy="189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963437" name="Google Shape;109;p21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TW"/>
              <a:t>價格</a:t>
            </a:r>
            <a:endParaRPr/>
          </a:p>
        </p:txBody>
      </p:sp>
      <p:sp>
        <p:nvSpPr>
          <p:cNvPr id="870082018" name="Google Shape;110;p21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graphicFrame>
        <p:nvGraphicFramePr>
          <p:cNvPr id="1285908910" name="Google Shape;111;p21"/>
          <p:cNvGraphicFramePr>
            <a:graphicFrameLocks xmlns:a="http://schemas.openxmlformats.org/drawingml/2006/main"/>
          </p:cNvGraphicFramePr>
          <p:nvPr/>
        </p:nvGraphicFramePr>
        <p:xfrm rot="0">
          <a:off x="311700" y="12221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{79A3F852-8CAD-4FF0-A7AF-D40E4EE2C7FE}</a:tableStyleId>
                <a:noFill/>
              </a:tblPr>
              <a:tblGrid>
                <a:gridCol w="1787750"/>
                <a:gridCol w="2407675"/>
                <a:gridCol w="4325175"/>
              </a:tblGrid>
              <a:tr h="311275">
                <a:tc>
                  <a:txBody>
                    <a:bodyPr/>
                    <a:p>
                      <a:pPr marL="0" lvl="0" indent="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zh-TW" sz="1000">
                          <a:solidFill>
                            <a:srgbClr val="FFFFFF"/>
                          </a:solidFill>
                        </a:rPr>
                        <a:t>方案 (Plan)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19050" marB="19050" anchor="ctr">
                    <a:lnL w="6350" algn="ctr">
                      <a:solidFill>
                        <a:srgbClr val="284E3F"/>
                      </a:solidFill>
                    </a:lnL>
                    <a:lnR w="6350" algn="ctr">
                      <a:solidFill>
                        <a:srgbClr val="356854"/>
                      </a:solidFill>
                    </a:lnR>
                    <a:lnT w="6350" algn="ctr">
                      <a:solidFill>
                        <a:srgbClr val="284E3F"/>
                      </a:solidFill>
                    </a:lnT>
                    <a:lnB w="6350" algn="ctr">
                      <a:solidFill>
                        <a:srgbClr val="284E3F"/>
                      </a:solidFill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zh-TW" sz="1000">
                          <a:solidFill>
                            <a:srgbClr val="FFFFFF"/>
                          </a:solidFill>
                        </a:rPr>
                        <a:t>價格 (Price)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19050" marB="19050" anchor="ctr">
                    <a:lnL w="6350" algn="ctr">
                      <a:solidFill>
                        <a:srgbClr val="356854"/>
                      </a:solidFill>
                    </a:lnL>
                    <a:lnR w="6350" algn="ctr">
                      <a:solidFill>
                        <a:srgbClr val="356854"/>
                      </a:solidFill>
                    </a:lnR>
                    <a:lnT w="6350" algn="ctr">
                      <a:solidFill>
                        <a:srgbClr val="284E3F"/>
                      </a:solidFill>
                    </a:lnT>
                    <a:lnB w="6350" algn="ctr">
                      <a:solidFill>
                        <a:srgbClr val="284E3F"/>
                      </a:solidFill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zh-TW" sz="1000">
                          <a:solidFill>
                            <a:srgbClr val="FFFFFF"/>
                          </a:solidFill>
                        </a:rPr>
                        <a:t>適用場景 &amp; 核心價值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19050" marB="19050" anchor="ctr">
                    <a:lnL w="6350" algn="ctr">
                      <a:solidFill>
                        <a:srgbClr val="356854"/>
                      </a:solidFill>
                    </a:lnL>
                    <a:lnR w="6350" algn="ctr">
                      <a:solidFill>
                        <a:srgbClr val="284E3F"/>
                      </a:solidFill>
                    </a:lnR>
                    <a:lnT w="6350" algn="ctr">
                      <a:solidFill>
                        <a:srgbClr val="284E3F"/>
                      </a:solidFill>
                    </a:lnT>
                    <a:lnB w="6350" algn="ctr">
                      <a:solidFill>
                        <a:srgbClr val="284E3F"/>
                      </a:solidFill>
                    </a:lnB>
                    <a:solidFill>
                      <a:srgbClr val="356854"/>
                    </a:solidFill>
                  </a:tcPr>
                </a:tc>
              </a:tr>
              <a:tr h="817075">
                <a:tc>
                  <a:txBody>
                    <a:bodyPr/>
                    <a:p>
                      <a:pPr marL="0" lvl="0" indent="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zh-TW" sz="1000">
                          <a:solidFill>
                            <a:srgbClr val="434343"/>
                          </a:solidFill>
                        </a:rPr>
                        <a:t>Hobby (免費版)</a:t>
                      </a:r>
                      <a:endParaRPr sz="1000">
                        <a:solidFill>
                          <a:srgbClr val="434343"/>
                        </a:solidFill>
                      </a:endParaRPr>
                    </a:p>
                  </a:txBody>
                  <a:tcPr marL="76200" marR="76200" marT="19050" marB="19050" anchor="ctr">
                    <a:lnL w="6350" algn="ctr">
                      <a:solidFill>
                        <a:srgbClr val="284E3F"/>
                      </a:solidFill>
                    </a:lnL>
                    <a:lnR w="6350" algn="ctr">
                      <a:solidFill>
                        <a:srgbClr val="FFFFFF"/>
                      </a:solidFill>
                    </a:lnR>
                    <a:lnT w="6350" algn="ctr">
                      <a:solidFill>
                        <a:srgbClr val="284E3F"/>
                      </a:solidFill>
                    </a:lnT>
                    <a:lnB w="6350" algn="ctr">
                      <a:solidFill>
                        <a:srgbClr val="F6F8F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zh-TW" sz="1000">
                          <a:solidFill>
                            <a:srgbClr val="434343"/>
                          </a:solidFill>
                        </a:rPr>
                        <a:t>$0 / 月</a:t>
                      </a:r>
                      <a:endParaRPr sz="1000">
                        <a:solidFill>
                          <a:srgbClr val="434343"/>
                        </a:solidFill>
                      </a:endParaRPr>
                    </a:p>
                  </a:txBody>
                  <a:tcPr marL="76200" marR="76200" marT="19050" marB="19050" anchor="ctr">
                    <a:lnL w="6350" algn="ctr">
                      <a:solidFill>
                        <a:srgbClr val="FFFFFF"/>
                      </a:solidFill>
                    </a:lnL>
                    <a:lnR w="6350" algn="ctr">
                      <a:solidFill>
                        <a:srgbClr val="FFFFFF"/>
                      </a:solidFill>
                    </a:lnR>
                    <a:lnT w="6350" algn="ctr">
                      <a:solidFill>
                        <a:srgbClr val="284E3F"/>
                      </a:solidFill>
                    </a:lnT>
                    <a:lnB w="6350" algn="ctr">
                      <a:solidFill>
                        <a:srgbClr val="F6F8F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zh-TW" sz="1000">
                          <a:solidFill>
                            <a:srgbClr val="434343"/>
                          </a:solidFill>
                        </a:rPr>
                        <a:t>「零成本試用」包含 2,000 次基本的代碼補全 (tab) 和 50 次慢速的高級 AI (如 Claude 3.5 Sonnet) 呼叫。適合個人開發者或初期評估。</a:t>
                      </a:r>
                      <a:endParaRPr sz="1000">
                        <a:solidFill>
                          <a:srgbClr val="434343"/>
                        </a:solidFill>
                      </a:endParaRPr>
                    </a:p>
                  </a:txBody>
                  <a:tcPr marL="76200" marR="76200" marT="19050" marB="19050" anchor="ctr">
                    <a:lnL w="6350" algn="ctr">
                      <a:solidFill>
                        <a:srgbClr val="FFFFFF"/>
                      </a:solidFill>
                    </a:lnL>
                    <a:lnR w="6350" algn="ctr">
                      <a:solidFill>
                        <a:srgbClr val="284E3F"/>
                      </a:solidFill>
                    </a:lnR>
                    <a:lnT w="6350" algn="ctr">
                      <a:solidFill>
                        <a:srgbClr val="284E3F"/>
                      </a:solidFill>
                    </a:lnT>
                    <a:lnB w="6350" algn="ctr">
                      <a:solidFill>
                        <a:srgbClr val="F6F8F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63500">
                <a:tc>
                  <a:txBody>
                    <a:bodyPr/>
                    <a:p>
                      <a:pPr marL="0" lvl="0" indent="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zh-TW" sz="1000">
                          <a:solidFill>
                            <a:srgbClr val="434343"/>
                          </a:solidFill>
                        </a:rPr>
                        <a:t>Hobby</a:t>
                      </a:r>
                      <a:r>
                        <a:rPr lang="zh-TW" sz="1000">
                          <a:solidFill>
                            <a:srgbClr val="434343"/>
                          </a:solidFill>
                        </a:rPr>
                        <a:t> (個人專業版)</a:t>
                      </a:r>
                      <a:br>
                        <a:rPr lang="zh-TW" sz="1000">
                          <a:solidFill>
                            <a:srgbClr val="434343"/>
                          </a:solidFill>
                        </a:rPr>
                      </a:br>
                      <a:r>
                        <a:rPr lang="zh-TW" sz="1000">
                          <a:solidFill>
                            <a:srgbClr val="434343"/>
                          </a:solidFill>
                        </a:rPr>
                        <a:t>分為 pro pro+ ultra </a:t>
                      </a:r>
                      <a:endParaRPr sz="1000">
                        <a:solidFill>
                          <a:srgbClr val="434343"/>
                        </a:solidFill>
                      </a:endParaRPr>
                    </a:p>
                  </a:txBody>
                  <a:tcPr marL="76200" marR="76200" marT="19050" marB="19050" anchor="ctr">
                    <a:lnL w="6350" algn="ctr">
                      <a:solidFill>
                        <a:srgbClr val="284E3F"/>
                      </a:solidFill>
                    </a:lnL>
                    <a:lnR w="6350" algn="ctr">
                      <a:solidFill>
                        <a:srgbClr val="F6F8F9"/>
                      </a:solidFill>
                    </a:lnR>
                    <a:lnT w="6350" algn="ctr">
                      <a:solidFill>
                        <a:srgbClr val="F6F8F9"/>
                      </a:solidFill>
                    </a:lnT>
                    <a:lnB w="6350" algn="ctr">
                      <a:solidFill>
                        <a:srgbClr val="F6F8F9"/>
                      </a:solidFill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zh-TW" sz="1000">
                          <a:solidFill>
                            <a:srgbClr val="434343"/>
                          </a:solidFill>
                        </a:rPr>
                        <a:t>*</a:t>
                      </a:r>
                      <a:r>
                        <a:rPr lang="zh-TW" sz="1000">
                          <a:solidFill>
                            <a:srgbClr val="434343"/>
                          </a:solidFill>
                        </a:rPr>
                        <a:t>*</a:t>
                      </a:r>
                      <a:r>
                        <a:rPr lang="zh-TW" sz="1000" b="0" i="0" u="none" strike="noStrike" cap="none" spc="0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</a:rPr>
                        <a:t>$</a:t>
                      </a:r>
                      <a:r>
                        <a:rPr lang="zh-TW" sz="1000">
                          <a:solidFill>
                            <a:srgbClr val="434343"/>
                          </a:solidFill>
                        </a:rPr>
                        <a:t>20/月</a:t>
                      </a:r>
                      <a:endParaRPr sz="1000">
                        <a:solidFill>
                          <a:srgbClr val="434343"/>
                        </a:solidFill>
                      </a:endParaRPr>
                    </a:p>
                  </a:txBody>
                  <a:tcPr marL="76200" marR="76200" marT="19050" marB="19050" anchor="ctr">
                    <a:lnL w="6350" algn="ctr">
                      <a:solidFill>
                        <a:srgbClr val="F6F8F9"/>
                      </a:solidFill>
                    </a:lnL>
                    <a:lnR w="6350" algn="ctr">
                      <a:solidFill>
                        <a:srgbClr val="F6F8F9"/>
                      </a:solidFill>
                    </a:lnR>
                    <a:lnT w="6350" algn="ctr">
                      <a:solidFill>
                        <a:srgbClr val="F6F8F9"/>
                      </a:solidFill>
                    </a:lnT>
                    <a:lnB w="6350" algn="ctr">
                      <a:solidFill>
                        <a:srgbClr val="F6F8F9"/>
                      </a:solidFill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zh-TW" sz="1000">
                          <a:solidFill>
                            <a:srgbClr val="434343"/>
                          </a:solidFill>
                        </a:rPr>
                        <a:t>「生產力爆發」包含無限制的使用基本補全、500 次快速高級 AI 呼叫，以及無限次慢速呼叫。殺手鐧 Composer (跨檔案修改) 和 RAG (@Codebase) 功能都在這裡完整解鎖。</a:t>
                      </a:r>
                      <a:endParaRPr sz="1000">
                        <a:solidFill>
                          <a:srgbClr val="434343"/>
                        </a:solidFill>
                      </a:endParaRPr>
                    </a:p>
                  </a:txBody>
                  <a:tcPr marL="76200" marR="76200" marT="19050" marB="19050" anchor="ctr">
                    <a:lnL w="6350" algn="ctr">
                      <a:solidFill>
                        <a:srgbClr val="F6F8F9"/>
                      </a:solidFill>
                    </a:lnL>
                    <a:lnR w="6350" algn="ctr">
                      <a:solidFill>
                        <a:srgbClr val="284E3F"/>
                      </a:solidFill>
                    </a:lnR>
                    <a:lnT w="6350" algn="ctr">
                      <a:solidFill>
                        <a:srgbClr val="F6F8F9"/>
                      </a:solidFill>
                    </a:lnT>
                    <a:lnB w="6350" algn="ctr">
                      <a:solidFill>
                        <a:srgbClr val="F6F8F9"/>
                      </a:solidFill>
                    </a:lnB>
                    <a:solidFill>
                      <a:srgbClr val="F6F8F9"/>
                    </a:solidFill>
                  </a:tcPr>
                </a:tc>
              </a:tr>
              <a:tr h="1063500">
                <a:tc>
                  <a:txBody>
                    <a:bodyPr/>
                    <a:p>
                      <a:pPr marL="0" lvl="0" indent="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zh-TW" sz="1000">
                          <a:solidFill>
                            <a:srgbClr val="434343"/>
                          </a:solidFill>
                        </a:rPr>
                        <a:t>Business (企業版)</a:t>
                      </a:r>
                      <a:endParaRPr sz="1000">
                        <a:solidFill>
                          <a:srgbClr val="434343"/>
                        </a:solidFill>
                      </a:endParaRPr>
                    </a:p>
                  </a:txBody>
                  <a:tcPr marL="76200" marR="76200" marT="19050" marB="19050" anchor="ctr">
                    <a:lnL w="6350" algn="ctr">
                      <a:solidFill>
                        <a:srgbClr val="284E3F"/>
                      </a:solidFill>
                    </a:lnL>
                    <a:lnR w="6350" algn="ctr">
                      <a:solidFill>
                        <a:srgbClr val="FFFFFF"/>
                      </a:solidFill>
                    </a:lnR>
                    <a:lnT w="6350" algn="ctr">
                      <a:solidFill>
                        <a:srgbClr val="F6F8F9"/>
                      </a:solidFill>
                    </a:lnT>
                    <a:lnB w="6350" algn="ctr">
                      <a:solidFill>
                        <a:srgbClr val="284E3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zh-TW" sz="1000">
                          <a:solidFill>
                            <a:srgbClr val="434343"/>
                          </a:solidFill>
                        </a:rPr>
                        <a:t>**$40 / 使用者 / 月**</a:t>
                      </a:r>
                      <a:endParaRPr sz="1000">
                        <a:solidFill>
                          <a:srgbClr val="434343"/>
                        </a:solidFill>
                      </a:endParaRPr>
                    </a:p>
                  </a:txBody>
                  <a:tcPr marL="76200" marR="76200" marT="19050" marB="19050" anchor="ctr">
                    <a:lnL w="6350" algn="ctr">
                      <a:solidFill>
                        <a:srgbClr val="FFFFFF"/>
                      </a:solidFill>
                    </a:lnL>
                    <a:lnR w="6350" algn="ctr">
                      <a:solidFill>
                        <a:srgbClr val="FFFFFF"/>
                      </a:solidFill>
                    </a:lnR>
                    <a:lnT w="6350" algn="ctr">
                      <a:solidFill>
                        <a:srgbClr val="F6F8F9"/>
                      </a:solidFill>
                    </a:lnT>
                    <a:lnB w="6350" algn="ctr">
                      <a:solidFill>
                        <a:srgbClr val="284E3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zh-TW" sz="1000">
                          <a:solidFill>
                            <a:srgbClr val="434343"/>
                          </a:solidFill>
                        </a:rPr>
                        <a:t>「企業級安全與管理」除了 Pro 的所有功能，額外包含：「隱私保護模式」（確保代碼不會被用於訓練 AI，符合政府專案或機密專案的需求）、管理員後台、優先支援。</a:t>
                      </a:r>
                      <a:endParaRPr sz="1000">
                        <a:solidFill>
                          <a:srgbClr val="434343"/>
                        </a:solidFill>
                      </a:endParaRPr>
                    </a:p>
                  </a:txBody>
                  <a:tcPr marL="76200" marR="76200" marT="19050" marB="19050" anchor="ctr">
                    <a:lnL w="6350" algn="ctr">
                      <a:solidFill>
                        <a:srgbClr val="FFFFFF"/>
                      </a:solidFill>
                    </a:lnL>
                    <a:lnR w="6350" algn="ctr">
                      <a:solidFill>
                        <a:srgbClr val="284E3F"/>
                      </a:solidFill>
                    </a:lnR>
                    <a:lnT w="6350" algn="ctr">
                      <a:solidFill>
                        <a:srgbClr val="F6F8F9"/>
                      </a:solidFill>
                    </a:lnT>
                    <a:lnB w="6350" algn="ctr">
                      <a:solidFill>
                        <a:srgbClr val="284E3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