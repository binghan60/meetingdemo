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2191695" cy="6858000" type="screen4x3"/>
  <p:notesSz cx="6858000" cy="9144000"/>
  <p:defaultTextStyle>
    <a:defPPr>
      <a:defRPr lang="en-US"/>
    </a:defPPr>
    <a:lvl1pPr marL="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477724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690659280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469591802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332564288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177396203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919480482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451702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331206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94449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4976F0B-E646-BC88-B67E-9092EF012C1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86492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35317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73372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BBCD770-EC67-65B8-69FE-AB7E745F3BE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26945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777183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87236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CDF0FA6-443E-3BEF-9DB9-5B1174C0345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87041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351408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17799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8FDEB52-6BF1-78D3-5CB5-FEF65288D1A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757680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700011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61985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AFB813F-3090-AEEF-A15E-0407428B8A2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02921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493380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24909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93F0989-92E1-74C5-D7C4-F971C2A9DB2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094880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789033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41211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1B65560-F18B-97AE-DBD6-288E1EBA121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65747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726188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57530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CF182A3-57A7-B444-4FB0-413D67F3243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328770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244819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953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2AA4BF7-1301-9A08-A347-7A37DF059A2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534013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658202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75811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3764465-FC88-307E-8C7F-35B828F146E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354808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279449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45341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8FBEE56-D6AC-42E1-DD93-950B57D512A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0321460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54141398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204087388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98627602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2155991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617492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46883051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4447878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29141044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6386143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4249649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1498942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78700161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65543493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7046795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894368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30519357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818068269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1358534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56818902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3160460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451786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4745754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45814888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52508547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143649434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29284380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380975807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05979304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736291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25956323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228076924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33471356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6065141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907001159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04808310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6211333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99655983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828132828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35820381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910826919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9437876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309091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80621266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64279910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13178320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72133192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59783619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262087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473218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97037123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204992624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6930354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8674689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69483648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05436743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23847342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2567900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8220252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6083496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93266562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355009223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55150959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3680942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6589410" name="Rectangle 2"/>
          <p:cNvSpPr/>
          <p:nvPr/>
        </p:nvSpPr>
        <p:spPr bwMode="auto">
          <a:xfrm>
            <a:off x="0" y="0"/>
            <a:ext cx="109728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74656066" name="TextBox 3"/>
          <p:cNvSpPr txBox="1"/>
          <p:nvPr/>
        </p:nvSpPr>
        <p:spPr bwMode="auto">
          <a:xfrm>
            <a:off x="731520" y="1920240"/>
            <a:ext cx="6760675" cy="762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4400" b="1">
                <a:solidFill>
                  <a:srgbClr val="F8FAFC"/>
                </a:solidFill>
                <a:latin typeface="Microsoft JhengHei"/>
                <a:ea typeface="Microsoft JhengHei"/>
              </a:rPr>
              <a:t>Grok Bot  小助理使用分享</a:t>
            </a:r>
            <a:endParaRPr/>
          </a:p>
        </p:txBody>
      </p:sp>
      <p:sp>
        <p:nvSpPr>
          <p:cNvPr id="1324659237" name="TextBox 4"/>
          <p:cNvSpPr txBox="1"/>
          <p:nvPr/>
        </p:nvSpPr>
        <p:spPr bwMode="auto">
          <a:xfrm>
            <a:off x="731520" y="2926080"/>
            <a:ext cx="183636" cy="3661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endParaRPr/>
          </a:p>
        </p:txBody>
      </p:sp>
      <p:sp>
        <p:nvSpPr>
          <p:cNvPr id="1221635089" name="TextBox 5"/>
          <p:cNvSpPr txBox="1"/>
          <p:nvPr/>
        </p:nvSpPr>
        <p:spPr bwMode="auto">
          <a:xfrm flipH="0" flipV="0">
            <a:off x="731519" y="2758259"/>
            <a:ext cx="3402906" cy="335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1600" b="0">
                <a:solidFill>
                  <a:srgbClr val="94A3B8"/>
                </a:solidFill>
                <a:latin typeface="Microsoft JhengHei"/>
                <a:ea typeface="Microsoft JhengHei"/>
              </a:rPr>
              <a:t> 釐清跟 Cursor 怎麼分工</a:t>
            </a:r>
            <a:endParaRPr/>
          </a:p>
        </p:txBody>
      </p:sp>
      <p:sp>
        <p:nvSpPr>
          <p:cNvPr id="875657443" name="TextBox 5"/>
          <p:cNvSpPr txBox="1"/>
          <p:nvPr/>
        </p:nvSpPr>
        <p:spPr bwMode="auto">
          <a:xfrm flipH="0" flipV="0">
            <a:off x="823338" y="4868575"/>
            <a:ext cx="3461585" cy="708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>
                <a:solidFill>
                  <a:schemeClr val="bg1"/>
                </a:solidFill>
              </a:rPr>
              <a:t>日期 2026/10/20</a:t>
            </a:r>
            <a:br>
              <a:rPr>
                <a:solidFill>
                  <a:schemeClr val="bg1"/>
                </a:solidFill>
              </a:rPr>
            </a:br>
            <a:r>
              <a:rPr>
                <a:solidFill>
                  <a:schemeClr val="bg1"/>
                </a:solidFill>
              </a:rPr>
              <a:t>製作人: 劉郁貞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385203" name="Rectangle 1"/>
          <p:cNvSpPr/>
          <p:nvPr/>
        </p:nvSpPr>
        <p:spPr bwMode="auto">
          <a:xfrm>
            <a:off x="-13827" y="-9144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08083035" name="Rectangle 2"/>
          <p:cNvSpPr/>
          <p:nvPr/>
        </p:nvSpPr>
        <p:spPr bwMode="auto">
          <a:xfrm>
            <a:off x="0" y="0"/>
            <a:ext cx="109728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66916072" name="TextBox 3"/>
          <p:cNvSpPr txBox="1"/>
          <p:nvPr/>
        </p:nvSpPr>
        <p:spPr bwMode="auto">
          <a:xfrm>
            <a:off x="502920" y="594539"/>
            <a:ext cx="945598" cy="548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3000" b="1">
                <a:solidFill>
                  <a:srgbClr val="F8FAFC"/>
                </a:solidFill>
                <a:latin typeface="Microsoft JhengHei"/>
                <a:ea typeface="Microsoft JhengHei"/>
              </a:rPr>
              <a:t>大綱</a:t>
            </a:r>
            <a:endParaRPr/>
          </a:p>
        </p:txBody>
      </p:sp>
      <p:sp>
        <p:nvSpPr>
          <p:cNvPr id="1003876497" name="TextBox 5"/>
          <p:cNvSpPr txBox="1"/>
          <p:nvPr/>
        </p:nvSpPr>
        <p:spPr bwMode="auto">
          <a:xfrm>
            <a:off x="502920" y="1554480"/>
            <a:ext cx="11229477" cy="2215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9"/>
              </a:spcAft>
              <a:defRPr/>
            </a:pPr>
            <a:r>
              <a:rPr lang="en-US" sz="2200" b="0" i="0" u="none" strike="noStrike" cap="none" spc="0">
                <a:solidFill>
                  <a:srgbClr val="CBD5E1"/>
                </a:solidFill>
                <a:latin typeface="Microsoft JhengHei"/>
                <a:ea typeface="Microsoft JhengHei"/>
                <a:cs typeface="Microsoft JhengHei"/>
              </a:rPr>
              <a:t>•  </a:t>
            </a:r>
            <a:r>
              <a:rPr sz="2200" b="0">
                <a:solidFill>
                  <a:srgbClr val="CBD5E1"/>
                </a:solidFill>
                <a:latin typeface="Microsoft JhengHei"/>
                <a:ea typeface="Microsoft JhengHei"/>
              </a:rPr>
              <a:t>第零章     前提與緣起</a:t>
            </a:r>
            <a:endParaRPr sz="2200" b="0">
              <a:solidFill>
                <a:srgbClr val="CBD5E1"/>
              </a:solidFill>
              <a:latin typeface="Microsoft JhengHei"/>
              <a:ea typeface="Microsoft JhengHei"/>
            </a:endParaRPr>
          </a:p>
          <a:p>
            <a:pPr>
              <a:spcAft>
                <a:spcPts val="1000"/>
              </a:spcAft>
              <a:defRPr/>
            </a:pPr>
            <a:r>
              <a:rPr sz="2200" b="0">
                <a:solidFill>
                  <a:srgbClr val="CBD5E1"/>
                </a:solidFill>
                <a:latin typeface="Microsoft JhengHei"/>
                <a:ea typeface="Microsoft JhengHei"/>
              </a:rPr>
              <a:t>•  </a:t>
            </a:r>
            <a:r>
              <a:rPr sz="2200" b="0">
                <a:solidFill>
                  <a:srgbClr val="CBD5E1"/>
                </a:solidFill>
                <a:latin typeface="Microsoft JhengHei"/>
                <a:ea typeface="Microsoft JhengHei"/>
              </a:rPr>
              <a:t>第一章　Grok Bot 是什麼？</a:t>
            </a:r>
            <a:endParaRPr sz="2200" b="0">
              <a:solidFill>
                <a:srgbClr val="CBD5E1"/>
              </a:solidFill>
              <a:latin typeface="Microsoft JhengHei"/>
              <a:ea typeface="Microsoft JhengHei"/>
            </a:endParaRPr>
          </a:p>
          <a:p>
            <a:pPr>
              <a:spcAft>
                <a:spcPts val="1000"/>
              </a:spcAft>
              <a:defRPr/>
            </a:pPr>
            <a:r>
              <a:rPr sz="2200" b="0">
                <a:solidFill>
                  <a:srgbClr val="CBD5E1"/>
                </a:solidFill>
                <a:latin typeface="Microsoft JhengHei"/>
                <a:ea typeface="Microsoft JhengHei"/>
              </a:rPr>
              <a:t>•  第二章　Grok Bot 能做什麼？</a:t>
            </a:r>
            <a:endParaRPr/>
          </a:p>
          <a:p>
            <a:pPr>
              <a:spcAft>
                <a:spcPts val="1000"/>
              </a:spcAft>
              <a:defRPr/>
            </a:pPr>
            <a:r>
              <a:rPr sz="2200" b="0">
                <a:solidFill>
                  <a:srgbClr val="CBD5E1"/>
                </a:solidFill>
                <a:latin typeface="Microsoft JhengHei"/>
                <a:ea typeface="Microsoft JhengHei"/>
              </a:rPr>
              <a:t>•  第三章　工作上怎麼幫我？</a:t>
            </a:r>
            <a:endParaRPr/>
          </a:p>
          <a:p>
            <a:pPr>
              <a:spcAft>
                <a:spcPts val="1000"/>
              </a:spcAft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7742692" name="Rectangle 1"/>
          <p:cNvSpPr/>
          <p:nvPr/>
        </p:nvSpPr>
        <p:spPr bwMode="auto">
          <a:xfrm>
            <a:off x="-14007" y="0"/>
            <a:ext cx="1219169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0502261" name="Rectangle 2"/>
          <p:cNvSpPr/>
          <p:nvPr/>
        </p:nvSpPr>
        <p:spPr bwMode="auto">
          <a:xfrm>
            <a:off x="0" y="0"/>
            <a:ext cx="109728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05409509" name="TextBox 5"/>
          <p:cNvSpPr txBox="1"/>
          <p:nvPr/>
        </p:nvSpPr>
        <p:spPr bwMode="auto">
          <a:xfrm>
            <a:off x="502920" y="1554480"/>
            <a:ext cx="11157838" cy="767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9"/>
              </a:spcAft>
              <a:defRPr/>
            </a:pPr>
            <a:endParaRPr/>
          </a:p>
          <a:p>
            <a:pPr>
              <a:spcAft>
                <a:spcPts val="999"/>
              </a:spcAft>
              <a:defRPr/>
            </a:pPr>
            <a:endParaRPr/>
          </a:p>
        </p:txBody>
      </p:sp>
      <p:sp>
        <p:nvSpPr>
          <p:cNvPr id="701936749" name="TextBox 4"/>
          <p:cNvSpPr txBox="1"/>
          <p:nvPr/>
        </p:nvSpPr>
        <p:spPr bwMode="auto">
          <a:xfrm>
            <a:off x="502920" y="594360"/>
            <a:ext cx="640798" cy="3661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/>
              <a:t>前提</a:t>
            </a:r>
            <a:endParaRPr/>
          </a:p>
        </p:txBody>
      </p:sp>
      <p:sp>
        <p:nvSpPr>
          <p:cNvPr id="54932182" name="TextBox 4"/>
          <p:cNvSpPr txBox="1"/>
          <p:nvPr/>
        </p:nvSpPr>
        <p:spPr bwMode="auto">
          <a:xfrm>
            <a:off x="502920" y="594360"/>
            <a:ext cx="2088596" cy="548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3000" b="1" i="0" u="none" strike="noStrike" cap="none" spc="0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前提與緣起</a:t>
            </a:r>
            <a:endParaRPr/>
          </a:p>
        </p:txBody>
      </p:sp>
      <p:pic>
        <p:nvPicPr>
          <p:cNvPr id="1127128391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333502" y="1314449"/>
            <a:ext cx="11496674" cy="42291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0285056" name="Rectangle 1"/>
          <p:cNvSpPr/>
          <p:nvPr/>
        </p:nvSpPr>
        <p:spPr bwMode="auto">
          <a:xfrm>
            <a:off x="54864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60124335" name="Rectangle 2"/>
          <p:cNvSpPr/>
          <p:nvPr/>
        </p:nvSpPr>
        <p:spPr bwMode="auto">
          <a:xfrm>
            <a:off x="0" y="0"/>
            <a:ext cx="109728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39312731" name="TextBox 3"/>
          <p:cNvSpPr txBox="1"/>
          <p:nvPr/>
        </p:nvSpPr>
        <p:spPr bwMode="auto">
          <a:xfrm>
            <a:off x="502920" y="32004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1400" b="1">
                <a:solidFill>
                  <a:srgbClr val="38BDF8"/>
                </a:solidFill>
                <a:latin typeface="Microsoft JhengHei"/>
                <a:ea typeface="Microsoft JhengHei"/>
              </a:rPr>
              <a:t>第一章</a:t>
            </a:r>
            <a:endParaRPr/>
          </a:p>
        </p:txBody>
      </p:sp>
      <p:sp>
        <p:nvSpPr>
          <p:cNvPr id="593568928" name="TextBox 4"/>
          <p:cNvSpPr txBox="1"/>
          <p:nvPr/>
        </p:nvSpPr>
        <p:spPr bwMode="auto">
          <a:xfrm>
            <a:off x="502920" y="594360"/>
            <a:ext cx="3429714" cy="548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3000" b="1" i="0" u="none" strike="noStrike" cap="none" spc="0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Grok Bot 是什麼？</a:t>
            </a:r>
            <a:endParaRPr/>
          </a:p>
        </p:txBody>
      </p:sp>
      <p:sp>
        <p:nvSpPr>
          <p:cNvPr id="1053141346" name="Rounded Rectangle 9"/>
          <p:cNvSpPr/>
          <p:nvPr/>
        </p:nvSpPr>
        <p:spPr bwMode="auto">
          <a:xfrm>
            <a:off x="558235" y="1486252"/>
            <a:ext cx="3566160" cy="438912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95743803" name="TextBox 10"/>
          <p:cNvSpPr txBox="1"/>
          <p:nvPr/>
        </p:nvSpPr>
        <p:spPr bwMode="auto">
          <a:xfrm>
            <a:off x="672182" y="1645920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1800" b="1">
                <a:solidFill>
                  <a:srgbClr val="34D399"/>
                </a:solidFill>
                <a:latin typeface="Microsoft JhengHei"/>
                <a:ea typeface="Microsoft JhengHei"/>
              </a:rPr>
              <a:t>Grok Bot（產品）</a:t>
            </a:r>
            <a:endParaRPr/>
          </a:p>
        </p:txBody>
      </p:sp>
      <p:sp>
        <p:nvSpPr>
          <p:cNvPr id="1528546303" name="TextBox 11"/>
          <p:cNvSpPr txBox="1"/>
          <p:nvPr/>
        </p:nvSpPr>
        <p:spPr bwMode="auto">
          <a:xfrm>
            <a:off x="725098" y="2057400"/>
            <a:ext cx="3109320" cy="128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/>
            </a:pPr>
            <a:r>
              <a:rPr sz="1500" b="0">
                <a:solidFill>
                  <a:srgbClr val="CBD5E1"/>
                </a:solidFill>
                <a:latin typeface="Microsoft JhengHei"/>
                <a:ea typeface="Microsoft JhengHei"/>
              </a:rPr>
              <a:t>•  可長期留下的 AI 隊友</a:t>
            </a:r>
            <a:endParaRPr/>
          </a:p>
          <a:p>
            <a:pPr>
              <a:spcAft>
                <a:spcPts val="600"/>
              </a:spcAft>
              <a:defRPr/>
            </a:pPr>
            <a:r>
              <a:rPr sz="1500" b="0">
                <a:solidFill>
                  <a:srgbClr val="CBD5E1"/>
                </a:solidFill>
                <a:latin typeface="Microsoft JhengHei"/>
                <a:ea typeface="Microsoft JhengHei"/>
              </a:rPr>
              <a:t>•  有對話、記憶、職責</a:t>
            </a:r>
            <a:endParaRPr/>
          </a:p>
          <a:p>
            <a:pPr>
              <a:spcAft>
                <a:spcPts val="600"/>
              </a:spcAft>
              <a:defRPr/>
            </a:pPr>
            <a:r>
              <a:rPr sz="1500" b="0">
                <a:solidFill>
                  <a:srgbClr val="CBD5E1"/>
                </a:solidFill>
                <a:latin typeface="Microsoft JhengHei"/>
                <a:ea typeface="Microsoft JhengHei"/>
              </a:rPr>
              <a:t>•  可群組、有雲端電腦</a:t>
            </a:r>
            <a:endParaRPr/>
          </a:p>
          <a:p>
            <a:pPr>
              <a:spcAft>
                <a:spcPts val="600"/>
              </a:spcAft>
              <a:defRPr/>
            </a:pPr>
            <a:endParaRPr/>
          </a:p>
        </p:txBody>
      </p:sp>
      <p:sp>
        <p:nvSpPr>
          <p:cNvPr id="306903574" name="TextBox 13"/>
          <p:cNvSpPr txBox="1"/>
          <p:nvPr/>
        </p:nvSpPr>
        <p:spPr bwMode="auto">
          <a:xfrm>
            <a:off x="823673" y="3337920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1800" b="1">
                <a:solidFill>
                  <a:srgbClr val="FBBF24"/>
                </a:solidFill>
                <a:latin typeface="Microsoft JhengHei"/>
                <a:ea typeface="Microsoft JhengHei"/>
              </a:rPr>
              <a:t>Cursor + Grok</a:t>
            </a:r>
            <a:endParaRPr/>
          </a:p>
        </p:txBody>
      </p:sp>
      <p:sp>
        <p:nvSpPr>
          <p:cNvPr id="1160720451" name="TextBox 14"/>
          <p:cNvSpPr txBox="1"/>
          <p:nvPr/>
        </p:nvSpPr>
        <p:spPr bwMode="auto">
          <a:xfrm>
            <a:off x="823672" y="3749400"/>
            <a:ext cx="3118680" cy="929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/>
            </a:pPr>
            <a:r>
              <a:rPr sz="1500" b="0">
                <a:solidFill>
                  <a:srgbClr val="CBD5E1"/>
                </a:solidFill>
                <a:latin typeface="Microsoft JhengHei"/>
                <a:ea typeface="Microsoft JhengHei"/>
              </a:rPr>
              <a:t>•  IDE 裡可選的模型</a:t>
            </a:r>
            <a:endParaRPr/>
          </a:p>
          <a:p>
            <a:pPr>
              <a:spcAft>
                <a:spcPts val="600"/>
              </a:spcAft>
              <a:defRPr/>
            </a:pPr>
            <a:r>
              <a:rPr sz="1500" b="0">
                <a:solidFill>
                  <a:srgbClr val="CBD5E1"/>
                </a:solidFill>
                <a:latin typeface="Microsoft JhengHei"/>
                <a:ea typeface="Microsoft JhengHei"/>
              </a:rPr>
              <a:t>•  綁 codebase 改專案</a:t>
            </a:r>
            <a:endParaRPr/>
          </a:p>
          <a:p>
            <a:pPr>
              <a:spcAft>
                <a:spcPts val="600"/>
              </a:spcAft>
              <a:defRPr/>
            </a:pPr>
            <a:r>
              <a:rPr sz="1500" b="0">
                <a:solidFill>
                  <a:srgbClr val="CBD5E1"/>
                </a:solidFill>
                <a:latin typeface="Microsoft JhengHei"/>
                <a:ea typeface="Microsoft JhengHei"/>
              </a:rPr>
              <a:t>•  寫程式碼主力在這</a:t>
            </a:r>
            <a:endParaRPr/>
          </a:p>
        </p:txBody>
      </p:sp>
      <p:sp>
        <p:nvSpPr>
          <p:cNvPr id="389504513" name="TextBox 14"/>
          <p:cNvSpPr txBox="1"/>
          <p:nvPr/>
        </p:nvSpPr>
        <p:spPr bwMode="auto">
          <a:xfrm>
            <a:off x="781794" y="5173131"/>
            <a:ext cx="3120120" cy="670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99"/>
              </a:spcAft>
              <a:defRPr/>
            </a:pPr>
            <a:r>
              <a:rPr sz="1500" b="0">
                <a:solidFill>
                  <a:srgbClr val="CBD5E1"/>
                </a:solidFill>
                <a:latin typeface="Microsoft JhengHei"/>
                <a:ea typeface="Microsoft JhengHei"/>
              </a:rPr>
              <a:t>•  </a:t>
            </a:r>
            <a:r>
              <a:rPr lang="en-US" sz="1500" b="0" i="0" u="none" strike="noStrike" cap="none" spc="0">
                <a:solidFill>
                  <a:srgbClr val="CBD5E1"/>
                </a:solidFill>
                <a:latin typeface="Microsoft JhengHei"/>
                <a:ea typeface="Microsoft JhengHei"/>
                <a:cs typeface="Microsoft JhengHei"/>
              </a:rPr>
              <a:t>是由 xAI 開發的生成式 AI</a:t>
            </a:r>
            <a:endParaRPr/>
          </a:p>
          <a:p>
            <a:pPr>
              <a:spcAft>
                <a:spcPts val="599"/>
              </a:spcAft>
              <a:defRPr/>
            </a:pPr>
            <a:endParaRPr/>
          </a:p>
        </p:txBody>
      </p:sp>
      <p:sp>
        <p:nvSpPr>
          <p:cNvPr id="2146876547" name="TextBox 13"/>
          <p:cNvSpPr txBox="1"/>
          <p:nvPr/>
        </p:nvSpPr>
        <p:spPr bwMode="auto">
          <a:xfrm>
            <a:off x="823672" y="4866153"/>
            <a:ext cx="720268" cy="3661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1800" b="1">
                <a:solidFill>
                  <a:srgbClr val="FBBF24"/>
                </a:solidFill>
                <a:latin typeface="Microsoft JhengHei"/>
                <a:ea typeface="Microsoft JhengHei"/>
              </a:rPr>
              <a:t>Grok</a:t>
            </a:r>
            <a:endParaRPr/>
          </a:p>
        </p:txBody>
      </p:sp>
      <p:pic>
        <p:nvPicPr>
          <p:cNvPr id="345248858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4406845" y="1592085"/>
            <a:ext cx="7494747" cy="402233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1689652" name="Rectangle 1"/>
          <p:cNvSpPr/>
          <p:nvPr/>
        </p:nvSpPr>
        <p:spPr bwMode="auto">
          <a:xfrm>
            <a:off x="-15086" y="0"/>
            <a:ext cx="1219169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75014635" name="Rectangle 2"/>
          <p:cNvSpPr/>
          <p:nvPr/>
        </p:nvSpPr>
        <p:spPr bwMode="auto">
          <a:xfrm>
            <a:off x="0" y="0"/>
            <a:ext cx="109728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27771026" name="TextBox 3"/>
          <p:cNvSpPr txBox="1"/>
          <p:nvPr/>
        </p:nvSpPr>
        <p:spPr bwMode="auto">
          <a:xfrm>
            <a:off x="502920" y="32004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1400" b="1">
                <a:solidFill>
                  <a:srgbClr val="38BDF8"/>
                </a:solidFill>
                <a:latin typeface="Microsoft JhengHei"/>
                <a:ea typeface="Microsoft JhengHei"/>
              </a:rPr>
              <a:t>第一章 · 產品特色</a:t>
            </a:r>
            <a:endParaRPr/>
          </a:p>
        </p:txBody>
      </p:sp>
      <p:sp>
        <p:nvSpPr>
          <p:cNvPr id="1322234310" name="TextBox 4"/>
          <p:cNvSpPr txBox="1"/>
          <p:nvPr/>
        </p:nvSpPr>
        <p:spPr bwMode="auto">
          <a:xfrm>
            <a:off x="502920" y="594360"/>
            <a:ext cx="1160931" cy="3661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zh-TW"/>
              <a:t>fdsffdsfdsf</a:t>
            </a:r>
            <a:endParaRPr/>
          </a:p>
        </p:txBody>
      </p:sp>
      <p:sp>
        <p:nvSpPr>
          <p:cNvPr id="548706241" name="TextBox 5"/>
          <p:cNvSpPr txBox="1"/>
          <p:nvPr/>
        </p:nvSpPr>
        <p:spPr bwMode="auto">
          <a:xfrm>
            <a:off x="502920" y="1143000"/>
            <a:ext cx="183636" cy="3661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endParaRPr/>
          </a:p>
        </p:txBody>
      </p:sp>
      <p:sp>
        <p:nvSpPr>
          <p:cNvPr id="2017591379" name="Rounded Rectangle 7"/>
          <p:cNvSpPr/>
          <p:nvPr/>
        </p:nvSpPr>
        <p:spPr bwMode="auto">
          <a:xfrm>
            <a:off x="502920" y="1575363"/>
            <a:ext cx="5486400" cy="41148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38801814" name="TextBox 8"/>
          <p:cNvSpPr txBox="1"/>
          <p:nvPr/>
        </p:nvSpPr>
        <p:spPr bwMode="auto">
          <a:xfrm>
            <a:off x="731520" y="1847088"/>
            <a:ext cx="1097996" cy="3661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1800" b="1">
                <a:solidFill>
                  <a:srgbClr val="38BDF8"/>
                </a:solidFill>
                <a:latin typeface="Microsoft JhengHei"/>
                <a:ea typeface="Microsoft JhengHei"/>
              </a:rPr>
              <a:t>角色設定</a:t>
            </a:r>
            <a:endParaRPr/>
          </a:p>
        </p:txBody>
      </p:sp>
      <p:sp>
        <p:nvSpPr>
          <p:cNvPr id="976204439" name="TextBox 9"/>
          <p:cNvSpPr txBox="1"/>
          <p:nvPr/>
        </p:nvSpPr>
        <p:spPr bwMode="auto">
          <a:xfrm>
            <a:off x="686556" y="2352241"/>
            <a:ext cx="5284435" cy="975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99"/>
              </a:spcAft>
              <a:defRPr/>
            </a:pPr>
            <a:r>
              <a:rPr sz="1500" b="0">
                <a:solidFill>
                  <a:srgbClr val="CBD5E1"/>
                </a:solidFill>
                <a:latin typeface="Microsoft JhengHei"/>
                <a:ea typeface="Microsoft JhengHei"/>
              </a:rPr>
              <a:t>•  </a:t>
            </a:r>
            <a:r>
              <a:rPr lang="en-US" sz="1500" b="0" i="0" u="none" strike="noStrike" cap="none" spc="0">
                <a:solidFill>
                  <a:srgbClr val="CBD5E1"/>
                </a:solidFill>
                <a:latin typeface="Microsoft JhengHei"/>
                <a:ea typeface="Microsoft JhengHei"/>
                <a:cs typeface="Microsoft JhengHei"/>
              </a:rPr>
              <a:t>設定名字、標籤，讓 Bot 清楚自己的主要職責</a:t>
            </a:r>
            <a:endParaRPr sz="1500" b="0">
              <a:solidFill>
                <a:srgbClr val="CBD5E1"/>
              </a:solidFill>
              <a:latin typeface="Microsoft JhengHei"/>
              <a:ea typeface="Microsoft JhengHei"/>
            </a:endParaRPr>
          </a:p>
          <a:p>
            <a:pPr>
              <a:spcAft>
                <a:spcPts val="599"/>
              </a:spcAft>
              <a:defRPr/>
            </a:pPr>
            <a:r>
              <a:rPr lang="en-US" sz="1500" b="0" i="0" u="none" strike="noStrike" cap="none" spc="0">
                <a:solidFill>
                  <a:srgbClr val="CBD5E1"/>
                </a:solidFill>
                <a:latin typeface="Microsoft JhengHei"/>
                <a:ea typeface="Microsoft JhengHei"/>
                <a:cs typeface="Microsoft JhengHei"/>
              </a:rPr>
              <a:t>•  設定頭貼或形象</a:t>
            </a:r>
            <a:endParaRPr sz="1500" b="0">
              <a:solidFill>
                <a:srgbClr val="CBD5E1"/>
              </a:solidFill>
              <a:latin typeface="Microsoft JhengHei"/>
              <a:ea typeface="Microsoft JhengHei"/>
            </a:endParaRPr>
          </a:p>
          <a:p>
            <a:pPr>
              <a:spcAft>
                <a:spcPts val="599"/>
              </a:spcAft>
              <a:defRPr/>
            </a:pPr>
            <a:endParaRPr/>
          </a:p>
        </p:txBody>
      </p:sp>
      <p:sp>
        <p:nvSpPr>
          <p:cNvPr id="690077583" name="TextBox 12"/>
          <p:cNvSpPr txBox="1"/>
          <p:nvPr/>
        </p:nvSpPr>
        <p:spPr bwMode="auto">
          <a:xfrm>
            <a:off x="6492240" y="2331720"/>
            <a:ext cx="4938838" cy="366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99"/>
              </a:spcAft>
              <a:defRPr/>
            </a:pPr>
            <a:endParaRPr/>
          </a:p>
        </p:txBody>
      </p:sp>
      <p:sp>
        <p:nvSpPr>
          <p:cNvPr id="1212451604" name="TextBox 4"/>
          <p:cNvSpPr txBox="1"/>
          <p:nvPr/>
        </p:nvSpPr>
        <p:spPr bwMode="auto">
          <a:xfrm>
            <a:off x="502920" y="594360"/>
            <a:ext cx="1678015" cy="548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3000" b="1">
                <a:solidFill>
                  <a:srgbClr val="F8FAFC"/>
                </a:solidFill>
                <a:latin typeface="Microsoft JhengHei"/>
                <a:ea typeface="Microsoft JhengHei"/>
              </a:rPr>
              <a:t>建立 Bot </a:t>
            </a:r>
            <a:endParaRPr/>
          </a:p>
        </p:txBody>
      </p:sp>
      <p:pic>
        <p:nvPicPr>
          <p:cNvPr id="284292558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7612615" y="1575363"/>
            <a:ext cx="2981324" cy="4029075"/>
          </a:xfrm>
          <a:prstGeom prst="rect">
            <a:avLst/>
          </a:prstGeom>
        </p:spPr>
      </p:pic>
      <p:sp>
        <p:nvSpPr>
          <p:cNvPr id="932413323" name="TextBox 8"/>
          <p:cNvSpPr txBox="1"/>
          <p:nvPr/>
        </p:nvSpPr>
        <p:spPr bwMode="auto">
          <a:xfrm>
            <a:off x="792929" y="3632763"/>
            <a:ext cx="1097996" cy="3661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1800" b="1">
                <a:solidFill>
                  <a:srgbClr val="38BDF8"/>
                </a:solidFill>
                <a:latin typeface="Microsoft JhengHei"/>
                <a:ea typeface="Microsoft JhengHei"/>
              </a:rPr>
              <a:t>詳細資料</a:t>
            </a:r>
            <a:endParaRPr/>
          </a:p>
        </p:txBody>
      </p:sp>
      <p:sp>
        <p:nvSpPr>
          <p:cNvPr id="1640417271" name="TextBox 9"/>
          <p:cNvSpPr txBox="1"/>
          <p:nvPr/>
        </p:nvSpPr>
        <p:spPr bwMode="auto">
          <a:xfrm>
            <a:off x="817563" y="4092142"/>
            <a:ext cx="5302437" cy="128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99"/>
              </a:spcAft>
              <a:defRPr/>
            </a:pPr>
            <a:r>
              <a:rPr sz="1500" b="0">
                <a:solidFill>
                  <a:srgbClr val="CBD5E1"/>
                </a:solidFill>
                <a:latin typeface="Microsoft JhengHei"/>
                <a:ea typeface="Microsoft JhengHei"/>
              </a:rPr>
              <a:t>•  </a:t>
            </a:r>
            <a:r>
              <a:rPr sz="1500" b="0">
                <a:solidFill>
                  <a:srgbClr val="CBD5E1"/>
                </a:solidFill>
                <a:latin typeface="Microsoft JhengHei"/>
                <a:ea typeface="Microsoft JhengHei"/>
              </a:rPr>
              <a:t>詳細資料</a:t>
            </a:r>
            <a:endParaRPr sz="1500" b="0">
              <a:solidFill>
                <a:srgbClr val="CBD5E1"/>
              </a:solidFill>
              <a:latin typeface="Microsoft JhengHei"/>
              <a:ea typeface="Microsoft JhengHei"/>
            </a:endParaRPr>
          </a:p>
          <a:p>
            <a:pPr>
              <a:spcAft>
                <a:spcPts val="599"/>
              </a:spcAft>
              <a:defRPr/>
            </a:pPr>
            <a:r>
              <a:rPr lang="en-US" sz="1500" b="0" i="0" u="none" strike="noStrike" cap="none" spc="0">
                <a:solidFill>
                  <a:srgbClr val="CBD5E1"/>
                </a:solidFill>
                <a:latin typeface="Microsoft JhengHei"/>
                <a:ea typeface="Microsoft JhengHei"/>
                <a:cs typeface="Microsoft JhengHei"/>
              </a:rPr>
              <a:t>•  資料庫</a:t>
            </a:r>
            <a:endParaRPr sz="1500" b="0">
              <a:solidFill>
                <a:srgbClr val="CBD5E1"/>
              </a:solidFill>
              <a:latin typeface="Microsoft JhengHei"/>
              <a:ea typeface="Microsoft JhengHei"/>
            </a:endParaRPr>
          </a:p>
          <a:p>
            <a:pPr>
              <a:spcAft>
                <a:spcPts val="599"/>
              </a:spcAft>
              <a:defRPr/>
            </a:pPr>
            <a:r>
              <a:rPr lang="en-US" sz="1500" b="0" i="0" u="none" strike="noStrike" cap="none" spc="0">
                <a:solidFill>
                  <a:srgbClr val="CBD5E1"/>
                </a:solidFill>
                <a:latin typeface="Microsoft JhengHei"/>
                <a:ea typeface="Microsoft JhengHei"/>
                <a:cs typeface="Microsoft JhengHei"/>
              </a:rPr>
              <a:t>•  電腦</a:t>
            </a:r>
            <a:endParaRPr sz="1500" b="0">
              <a:solidFill>
                <a:srgbClr val="CBD5E1"/>
              </a:solidFill>
              <a:latin typeface="Microsoft JhengHei"/>
              <a:ea typeface="Microsoft JhengHei"/>
            </a:endParaRPr>
          </a:p>
          <a:p>
            <a:pPr>
              <a:spcAft>
                <a:spcPts val="599"/>
              </a:spcAft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9353736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80843372" name="Rectangle 2"/>
          <p:cNvSpPr/>
          <p:nvPr/>
        </p:nvSpPr>
        <p:spPr bwMode="auto">
          <a:xfrm>
            <a:off x="0" y="0"/>
            <a:ext cx="109728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58410094" name="TextBox 3"/>
          <p:cNvSpPr txBox="1"/>
          <p:nvPr/>
        </p:nvSpPr>
        <p:spPr bwMode="auto">
          <a:xfrm>
            <a:off x="502920" y="32004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1400" b="1">
                <a:solidFill>
                  <a:srgbClr val="38BDF8"/>
                </a:solidFill>
                <a:latin typeface="Microsoft JhengHei"/>
                <a:ea typeface="Microsoft JhengHei"/>
              </a:rPr>
              <a:t>第一章 · 產品特色</a:t>
            </a:r>
            <a:endParaRPr/>
          </a:p>
        </p:txBody>
      </p:sp>
      <p:sp>
        <p:nvSpPr>
          <p:cNvPr id="282521638" name="TextBox 4"/>
          <p:cNvSpPr txBox="1"/>
          <p:nvPr/>
        </p:nvSpPr>
        <p:spPr bwMode="auto">
          <a:xfrm>
            <a:off x="502920" y="59436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3000" b="1">
                <a:solidFill>
                  <a:srgbClr val="F8FAFC"/>
                </a:solidFill>
                <a:latin typeface="Microsoft JhengHei"/>
                <a:ea typeface="Microsoft JhengHei"/>
              </a:rPr>
              <a:t>它有自己的電腦（雲端）</a:t>
            </a:r>
            <a:endParaRPr/>
          </a:p>
        </p:txBody>
      </p:sp>
      <p:sp>
        <p:nvSpPr>
          <p:cNvPr id="1115339087" name="TextBox 5"/>
          <p:cNvSpPr txBox="1"/>
          <p:nvPr/>
        </p:nvSpPr>
        <p:spPr bwMode="auto">
          <a:xfrm>
            <a:off x="502920" y="1143000"/>
            <a:ext cx="183636" cy="3661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endParaRPr/>
          </a:p>
        </p:txBody>
      </p:sp>
      <p:sp>
        <p:nvSpPr>
          <p:cNvPr id="39569308" name="Rounded Rectangle 7"/>
          <p:cNvSpPr/>
          <p:nvPr/>
        </p:nvSpPr>
        <p:spPr bwMode="auto">
          <a:xfrm>
            <a:off x="502920" y="1645920"/>
            <a:ext cx="5486400" cy="41148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23549023" name="TextBox 8"/>
          <p:cNvSpPr txBox="1"/>
          <p:nvPr/>
        </p:nvSpPr>
        <p:spPr bwMode="auto">
          <a:xfrm>
            <a:off x="731520" y="1847088"/>
            <a:ext cx="5029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1800" b="1">
                <a:solidFill>
                  <a:srgbClr val="38BDF8"/>
                </a:solidFill>
                <a:latin typeface="Microsoft JhengHei"/>
                <a:ea typeface="Microsoft JhengHei"/>
              </a:rPr>
              <a:t>這台電腦能幹嘛</a:t>
            </a:r>
            <a:endParaRPr/>
          </a:p>
        </p:txBody>
      </p:sp>
      <p:sp>
        <p:nvSpPr>
          <p:cNvPr id="648634786" name="TextBox 9"/>
          <p:cNvSpPr txBox="1"/>
          <p:nvPr/>
        </p:nvSpPr>
        <p:spPr bwMode="auto">
          <a:xfrm>
            <a:off x="731520" y="2331720"/>
            <a:ext cx="5029559" cy="128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/>
            </a:pPr>
            <a:r>
              <a:rPr sz="1500" b="0">
                <a:solidFill>
                  <a:srgbClr val="CBD5E1"/>
                </a:solidFill>
                <a:latin typeface="Microsoft JhengHei"/>
                <a:ea typeface="Microsoft JhengHei"/>
              </a:rPr>
              <a:t>•  持久存在的雲端環境</a:t>
            </a:r>
            <a:endParaRPr/>
          </a:p>
          <a:p>
            <a:pPr>
              <a:spcAft>
                <a:spcPts val="600"/>
              </a:spcAft>
              <a:defRPr/>
            </a:pPr>
            <a:r>
              <a:rPr sz="1500" b="0">
                <a:solidFill>
                  <a:srgbClr val="CBD5E1"/>
                </a:solidFill>
                <a:latin typeface="Microsoft JhengHei"/>
                <a:ea typeface="Microsoft JhengHei"/>
              </a:rPr>
              <a:t>•  瀏覽器、檔案系統、終端機</a:t>
            </a:r>
            <a:endParaRPr/>
          </a:p>
          <a:p>
            <a:pPr>
              <a:spcAft>
                <a:spcPts val="600"/>
              </a:spcAft>
              <a:defRPr/>
            </a:pPr>
            <a:r>
              <a:rPr sz="1500" b="0">
                <a:solidFill>
                  <a:srgbClr val="CBD5E1"/>
                </a:solidFill>
                <a:latin typeface="Microsoft JhengHei"/>
                <a:ea typeface="Microsoft JhengHei"/>
              </a:rPr>
              <a:t>•  可登入網站／工具把事做完</a:t>
            </a:r>
            <a:endParaRPr/>
          </a:p>
          <a:p>
            <a:pPr>
              <a:spcAft>
                <a:spcPts val="600"/>
              </a:spcAft>
              <a:defRPr/>
            </a:pPr>
            <a:endParaRPr/>
          </a:p>
        </p:txBody>
      </p:sp>
      <p:sp>
        <p:nvSpPr>
          <p:cNvPr id="209734876" name="Rounded Rectangle 10"/>
          <p:cNvSpPr/>
          <p:nvPr/>
        </p:nvSpPr>
        <p:spPr bwMode="auto">
          <a:xfrm>
            <a:off x="6263640" y="1645920"/>
            <a:ext cx="5394960" cy="41148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7882629" name="TextBox 11"/>
          <p:cNvSpPr txBox="1"/>
          <p:nvPr/>
        </p:nvSpPr>
        <p:spPr bwMode="auto">
          <a:xfrm>
            <a:off x="6492240" y="1847088"/>
            <a:ext cx="4937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1800" b="1">
                <a:solidFill>
                  <a:srgbClr val="FBBF24"/>
                </a:solidFill>
                <a:latin typeface="Microsoft JhengHei"/>
                <a:ea typeface="Microsoft JhengHei"/>
              </a:rPr>
              <a:t>使用上要注意</a:t>
            </a:r>
            <a:endParaRPr/>
          </a:p>
        </p:txBody>
      </p:sp>
      <p:sp>
        <p:nvSpPr>
          <p:cNvPr id="1153764019" name="TextBox 12"/>
          <p:cNvSpPr txBox="1"/>
          <p:nvPr/>
        </p:nvSpPr>
        <p:spPr bwMode="auto">
          <a:xfrm>
            <a:off x="6492240" y="2331720"/>
            <a:ext cx="4938119" cy="128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/>
            </a:pPr>
            <a:r>
              <a:rPr sz="1500" b="0">
                <a:solidFill>
                  <a:srgbClr val="CBD5E1"/>
                </a:solidFill>
                <a:latin typeface="Microsoft JhengHei"/>
                <a:ea typeface="Microsoft JhengHei"/>
              </a:rPr>
              <a:t>•  同帳號多隻 Bot 共用這台電腦</a:t>
            </a:r>
            <a:endParaRPr/>
          </a:p>
          <a:p>
            <a:pPr>
              <a:spcAft>
                <a:spcPts val="600"/>
              </a:spcAft>
              <a:defRPr/>
            </a:pPr>
            <a:r>
              <a:rPr sz="1500" b="0">
                <a:solidFill>
                  <a:srgbClr val="CBD5E1"/>
                </a:solidFill>
                <a:latin typeface="Microsoft JhengHei"/>
                <a:ea typeface="Microsoft JhengHei"/>
              </a:rPr>
              <a:t>•  檔案、登入工作階段會共享</a:t>
            </a:r>
            <a:endParaRPr/>
          </a:p>
          <a:p>
            <a:pPr>
              <a:spcAft>
                <a:spcPts val="600"/>
              </a:spcAft>
              <a:defRPr/>
            </a:pPr>
            <a:r>
              <a:rPr sz="1500" b="0">
                <a:solidFill>
                  <a:srgbClr val="CBD5E1"/>
                </a:solidFill>
                <a:latin typeface="Microsoft JhengHei"/>
                <a:ea typeface="Microsoft JhengHei"/>
              </a:rPr>
              <a:t>•  跟你</a:t>
            </a:r>
            <a:r>
              <a:rPr sz="1500" b="0">
                <a:solidFill>
                  <a:srgbClr val="CBD5E1"/>
                </a:solidFill>
                <a:latin typeface="Microsoft JhengHei"/>
                <a:ea typeface="Microsoft JhengHei"/>
              </a:rPr>
              <a:t>眼前的本機電腦是</a:t>
            </a:r>
            <a:r>
              <a:rPr sz="1500" b="0">
                <a:solidFill>
                  <a:srgbClr val="CBD5E1"/>
                </a:solidFill>
                <a:latin typeface="Microsoft JhengHei"/>
                <a:ea typeface="Microsoft JhengHei"/>
              </a:rPr>
              <a:t>分開的</a:t>
            </a:r>
            <a:endParaRPr/>
          </a:p>
          <a:p>
            <a:pPr>
              <a:spcAft>
                <a:spcPts val="600"/>
              </a:spcAft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3046323" name="Rectangle 1"/>
          <p:cNvSpPr/>
          <p:nvPr/>
        </p:nvSpPr>
        <p:spPr bwMode="auto">
          <a:xfrm>
            <a:off x="-15086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64957305" name="Rectangle 2"/>
          <p:cNvSpPr/>
          <p:nvPr/>
        </p:nvSpPr>
        <p:spPr bwMode="auto">
          <a:xfrm>
            <a:off x="0" y="0"/>
            <a:ext cx="109728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94429978" name="TextBox 3"/>
          <p:cNvSpPr txBox="1"/>
          <p:nvPr/>
        </p:nvSpPr>
        <p:spPr bwMode="auto">
          <a:xfrm>
            <a:off x="502920" y="32004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1400" b="1">
                <a:solidFill>
                  <a:srgbClr val="38BDF8"/>
                </a:solidFill>
                <a:latin typeface="Microsoft JhengHei"/>
                <a:ea typeface="Microsoft JhengHei"/>
              </a:rPr>
              <a:t>第一章 · 產品特色</a:t>
            </a:r>
            <a:endParaRPr/>
          </a:p>
        </p:txBody>
      </p:sp>
      <p:sp>
        <p:nvSpPr>
          <p:cNvPr id="1787424080" name="TextBox 4"/>
          <p:cNvSpPr txBox="1"/>
          <p:nvPr/>
        </p:nvSpPr>
        <p:spPr bwMode="auto">
          <a:xfrm>
            <a:off x="502920" y="594360"/>
            <a:ext cx="1707597" cy="548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3000" b="1">
                <a:solidFill>
                  <a:srgbClr val="F8FAFC"/>
                </a:solidFill>
                <a:latin typeface="Microsoft JhengHei"/>
                <a:ea typeface="Microsoft JhengHei"/>
              </a:rPr>
              <a:t>對話語氣</a:t>
            </a:r>
            <a:endParaRPr/>
          </a:p>
        </p:txBody>
      </p:sp>
      <p:sp>
        <p:nvSpPr>
          <p:cNvPr id="1070108737" name="TextBox 5"/>
          <p:cNvSpPr txBox="1"/>
          <p:nvPr/>
        </p:nvSpPr>
        <p:spPr bwMode="auto">
          <a:xfrm>
            <a:off x="502920" y="1143000"/>
            <a:ext cx="183636" cy="3661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endParaRPr/>
          </a:p>
        </p:txBody>
      </p:sp>
      <p:sp>
        <p:nvSpPr>
          <p:cNvPr id="983615635" name="Rounded Rectangle 7"/>
          <p:cNvSpPr/>
          <p:nvPr/>
        </p:nvSpPr>
        <p:spPr bwMode="auto">
          <a:xfrm>
            <a:off x="502920" y="1575364"/>
            <a:ext cx="5486400" cy="41148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32355166" name="TextBox 8"/>
          <p:cNvSpPr txBox="1"/>
          <p:nvPr/>
        </p:nvSpPr>
        <p:spPr bwMode="auto">
          <a:xfrm>
            <a:off x="731520" y="1847088"/>
            <a:ext cx="869397" cy="3661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1800" b="1">
                <a:solidFill>
                  <a:srgbClr val="38BDF8"/>
                </a:solidFill>
                <a:latin typeface="Microsoft JhengHei"/>
                <a:ea typeface="Microsoft JhengHei"/>
              </a:rPr>
              <a:t>差在哪</a:t>
            </a:r>
            <a:endParaRPr/>
          </a:p>
        </p:txBody>
      </p:sp>
      <p:sp>
        <p:nvSpPr>
          <p:cNvPr id="429552830" name="TextBox 9"/>
          <p:cNvSpPr txBox="1"/>
          <p:nvPr/>
        </p:nvSpPr>
        <p:spPr bwMode="auto">
          <a:xfrm>
            <a:off x="686556" y="2331720"/>
            <a:ext cx="5067358" cy="146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/>
            </a:pPr>
            <a:r>
              <a:rPr sz="1500" b="0">
                <a:solidFill>
                  <a:srgbClr val="CBD5E1"/>
                </a:solidFill>
                <a:latin typeface="Microsoft JhengHei"/>
                <a:ea typeface="Microsoft JhengHei"/>
              </a:rPr>
              <a:t>•  語氣較為口語</a:t>
            </a:r>
            <a:endParaRPr/>
          </a:p>
          <a:p>
            <a:pPr>
              <a:spcAft>
                <a:spcPts val="600"/>
              </a:spcAft>
              <a:defRPr/>
            </a:pPr>
            <a:r>
              <a:rPr sz="1500" b="0">
                <a:solidFill>
                  <a:srgbClr val="CBD5E1"/>
                </a:solidFill>
                <a:latin typeface="Microsoft JhengHei"/>
                <a:ea typeface="Microsoft JhengHei"/>
              </a:rPr>
              <a:t>•  比較像跟同事／朋友對談，不像填工單</a:t>
            </a:r>
            <a:endParaRPr/>
          </a:p>
          <a:p>
            <a:pPr>
              <a:spcAft>
                <a:spcPts val="600"/>
              </a:spcAft>
              <a:defRPr/>
            </a:pPr>
            <a:r>
              <a:rPr sz="1500" b="0">
                <a:solidFill>
                  <a:srgbClr val="CBD5E1"/>
                </a:solidFill>
                <a:latin typeface="Microsoft JhengHei"/>
                <a:ea typeface="Microsoft JhengHei"/>
              </a:rPr>
              <a:t>•  適合腦力激盪、釐清想法、輕鬆協作</a:t>
            </a:r>
            <a:endParaRPr/>
          </a:p>
          <a:p>
            <a:pPr>
              <a:spcAft>
                <a:spcPts val="600"/>
              </a:spcAft>
              <a:defRPr/>
            </a:pPr>
            <a:r>
              <a:rPr sz="1500" b="0">
                <a:solidFill>
                  <a:srgbClr val="CBD5E1"/>
                </a:solidFill>
                <a:latin typeface="Microsoft JhengHei"/>
                <a:ea typeface="Microsoft JhengHei"/>
              </a:rPr>
              <a:t>•  </a:t>
            </a:r>
            <a:r>
              <a:rPr lang="en-US" sz="1500" b="0" i="0" u="none" strike="noStrike" cap="none" spc="0">
                <a:solidFill>
                  <a:srgbClr val="CBD5E1"/>
                </a:solidFill>
                <a:latin typeface="Microsoft JhengHei"/>
                <a:ea typeface="Microsoft JhengHei"/>
                <a:cs typeface="Microsoft JhengHei"/>
              </a:rPr>
              <a:t>降低「跟 AI 講話很假」的摩擦</a:t>
            </a:r>
            <a:r>
              <a:rPr sz="1500" b="0">
                <a:solidFill>
                  <a:srgbClr val="CBD5E1"/>
                </a:solidFill>
                <a:latin typeface="Microsoft JhengHei"/>
                <a:ea typeface="Microsoft JhengHei"/>
              </a:rPr>
              <a:t>，</a:t>
            </a:r>
            <a:r>
              <a:rPr lang="en-US" sz="1500" b="0" i="0" u="none" strike="noStrike" cap="none" spc="0">
                <a:solidFill>
                  <a:srgbClr val="CBD5E1"/>
                </a:solidFill>
                <a:latin typeface="Microsoft JhengHei"/>
                <a:ea typeface="Microsoft JhengHei"/>
                <a:cs typeface="Microsoft JhengHei"/>
              </a:rPr>
              <a:t>交辦與追問會更自然、願意多輪</a:t>
            </a:r>
            <a:endParaRPr/>
          </a:p>
        </p:txBody>
      </p:sp>
      <p:sp>
        <p:nvSpPr>
          <p:cNvPr id="1427063661" name="TextBox 12"/>
          <p:cNvSpPr txBox="1"/>
          <p:nvPr/>
        </p:nvSpPr>
        <p:spPr bwMode="auto">
          <a:xfrm>
            <a:off x="6492240" y="2331720"/>
            <a:ext cx="4938839" cy="366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7854948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06785885" name="Rectangle 2"/>
          <p:cNvSpPr/>
          <p:nvPr/>
        </p:nvSpPr>
        <p:spPr bwMode="auto">
          <a:xfrm>
            <a:off x="0" y="0"/>
            <a:ext cx="109728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79528397" name="TextBox 3"/>
          <p:cNvSpPr txBox="1"/>
          <p:nvPr/>
        </p:nvSpPr>
        <p:spPr bwMode="auto">
          <a:xfrm>
            <a:off x="502920" y="32004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1400" b="1">
                <a:solidFill>
                  <a:srgbClr val="38BDF8"/>
                </a:solidFill>
                <a:latin typeface="Microsoft JhengHei"/>
                <a:ea typeface="Microsoft JhengHei"/>
              </a:rPr>
              <a:t>第一章 · 產品特色</a:t>
            </a:r>
            <a:endParaRPr/>
          </a:p>
        </p:txBody>
      </p:sp>
      <p:sp>
        <p:nvSpPr>
          <p:cNvPr id="795818821" name="TextBox 4"/>
          <p:cNvSpPr txBox="1"/>
          <p:nvPr/>
        </p:nvSpPr>
        <p:spPr bwMode="auto">
          <a:xfrm>
            <a:off x="502920" y="59436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3000" b="1">
                <a:solidFill>
                  <a:srgbClr val="F8FAFC"/>
                </a:solidFill>
                <a:latin typeface="Microsoft JhengHei"/>
                <a:ea typeface="Microsoft JhengHei"/>
              </a:rPr>
              <a:t>可以建立群組：多隻 Bot 一起協作</a:t>
            </a:r>
            <a:endParaRPr/>
          </a:p>
        </p:txBody>
      </p:sp>
      <p:sp>
        <p:nvSpPr>
          <p:cNvPr id="1838985236" name="Rounded Rectangle 6"/>
          <p:cNvSpPr/>
          <p:nvPr/>
        </p:nvSpPr>
        <p:spPr bwMode="auto">
          <a:xfrm>
            <a:off x="502920" y="1371600"/>
            <a:ext cx="5486400" cy="4572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42109351" name="TextBox 7"/>
          <p:cNvSpPr txBox="1"/>
          <p:nvPr/>
        </p:nvSpPr>
        <p:spPr bwMode="auto">
          <a:xfrm>
            <a:off x="731520" y="1572768"/>
            <a:ext cx="5029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1800" b="1">
                <a:solidFill>
                  <a:srgbClr val="38BDF8"/>
                </a:solidFill>
                <a:latin typeface="Microsoft JhengHei"/>
                <a:ea typeface="Microsoft JhengHei"/>
              </a:rPr>
              <a:t>群組在做什麼</a:t>
            </a:r>
            <a:endParaRPr/>
          </a:p>
        </p:txBody>
      </p:sp>
      <p:sp>
        <p:nvSpPr>
          <p:cNvPr id="336952101" name="TextBox 8"/>
          <p:cNvSpPr txBox="1"/>
          <p:nvPr/>
        </p:nvSpPr>
        <p:spPr bwMode="auto">
          <a:xfrm>
            <a:off x="731520" y="20574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/>
            </a:pPr>
            <a:r>
              <a:rPr sz="1500" b="0">
                <a:solidFill>
                  <a:srgbClr val="CBD5E1"/>
                </a:solidFill>
                <a:latin typeface="Microsoft JhengHei"/>
                <a:ea typeface="Microsoft JhengHei"/>
              </a:rPr>
              <a:t>•  一次選 2～6 隻 Bot 進同一個聊天</a:t>
            </a:r>
            <a:endParaRPr/>
          </a:p>
          <a:p>
            <a:pPr>
              <a:spcAft>
                <a:spcPts val="600"/>
              </a:spcAft>
              <a:defRPr/>
            </a:pPr>
            <a:r>
              <a:rPr sz="1500" b="0">
                <a:solidFill>
                  <a:srgbClr val="CBD5E1"/>
                </a:solidFill>
                <a:latin typeface="Microsoft JhengHei"/>
                <a:ea typeface="Microsoft JhengHei"/>
              </a:rPr>
              <a:t>•  共同目標、交接過程看得到</a:t>
            </a:r>
            <a:endParaRPr/>
          </a:p>
          <a:p>
            <a:pPr>
              <a:spcAft>
                <a:spcPts val="600"/>
              </a:spcAft>
              <a:defRPr/>
            </a:pPr>
            <a:r>
              <a:rPr sz="1500" b="0">
                <a:solidFill>
                  <a:srgbClr val="CBD5E1"/>
                </a:solidFill>
                <a:latin typeface="Microsoft JhengHei"/>
                <a:ea typeface="Microsoft JhengHei"/>
              </a:rPr>
              <a:t>•  可用 @ 指定某隻 Bot 接手</a:t>
            </a:r>
            <a:endParaRPr/>
          </a:p>
          <a:p>
            <a:pPr>
              <a:spcAft>
                <a:spcPts val="600"/>
              </a:spcAft>
              <a:defRPr/>
            </a:pPr>
            <a:r>
              <a:rPr sz="1500" b="0">
                <a:solidFill>
                  <a:srgbClr val="CBD5E1"/>
                </a:solidFill>
                <a:latin typeface="Microsoft JhengHei"/>
                <a:ea typeface="Microsoft JhengHei"/>
              </a:rPr>
              <a:t>•  Bot 之間也能互傳、交棒</a:t>
            </a:r>
            <a:endParaRPr/>
          </a:p>
        </p:txBody>
      </p:sp>
      <p:sp>
        <p:nvSpPr>
          <p:cNvPr id="921985252" name="Rounded Rectangle 9"/>
          <p:cNvSpPr/>
          <p:nvPr/>
        </p:nvSpPr>
        <p:spPr bwMode="auto">
          <a:xfrm>
            <a:off x="6263640" y="1371600"/>
            <a:ext cx="5394960" cy="4572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42237884" name="TextBox 10"/>
          <p:cNvSpPr txBox="1"/>
          <p:nvPr/>
        </p:nvSpPr>
        <p:spPr bwMode="auto">
          <a:xfrm>
            <a:off x="6492240" y="1572768"/>
            <a:ext cx="4937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1800" b="1">
                <a:solidFill>
                  <a:srgbClr val="34D399"/>
                </a:solidFill>
                <a:latin typeface="Microsoft JhengHei"/>
                <a:ea typeface="Microsoft JhengHei"/>
              </a:rPr>
              <a:t>什麼時候值得開群組</a:t>
            </a:r>
            <a:endParaRPr/>
          </a:p>
        </p:txBody>
      </p:sp>
      <p:sp>
        <p:nvSpPr>
          <p:cNvPr id="610174705" name="TextBox 11"/>
          <p:cNvSpPr txBox="1"/>
          <p:nvPr/>
        </p:nvSpPr>
        <p:spPr bwMode="auto">
          <a:xfrm>
            <a:off x="6492240" y="2057400"/>
            <a:ext cx="4938479" cy="929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/>
            </a:pPr>
            <a:r>
              <a:rPr sz="1500" b="0">
                <a:solidFill>
                  <a:srgbClr val="CBD5E1"/>
                </a:solidFill>
                <a:latin typeface="Microsoft JhengHei"/>
                <a:ea typeface="Microsoft JhengHei"/>
              </a:rPr>
              <a:t>•  一件事需要多種角色（研究／撰寫／檢查）</a:t>
            </a:r>
            <a:endParaRPr/>
          </a:p>
          <a:p>
            <a:pPr>
              <a:spcAft>
                <a:spcPts val="600"/>
              </a:spcAft>
              <a:defRPr/>
            </a:pPr>
            <a:r>
              <a:rPr sz="1500" b="0">
                <a:solidFill>
                  <a:srgbClr val="CBD5E1"/>
                </a:solidFill>
                <a:latin typeface="Microsoft JhengHei"/>
                <a:ea typeface="Microsoft JhengHei"/>
              </a:rPr>
              <a:t>•  希望交接留在同一個對話裡</a:t>
            </a:r>
            <a:endParaRPr/>
          </a:p>
          <a:p>
            <a:pPr>
              <a:spcAft>
                <a:spcPts val="600"/>
              </a:spcAft>
              <a:defRPr/>
            </a:pPr>
            <a:r>
              <a:rPr sz="1500" b="0">
                <a:solidFill>
                  <a:srgbClr val="CBD5E1"/>
                </a:solidFill>
                <a:latin typeface="Microsoft JhengHei"/>
                <a:ea typeface="Microsoft JhengHei"/>
              </a:rPr>
              <a:t>•  不想自己當「人工路由器」轉來轉去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3106444" name="Rectangle 1"/>
          <p:cNvSpPr/>
          <p:nvPr/>
        </p:nvSpPr>
        <p:spPr bwMode="auto">
          <a:xfrm>
            <a:off x="-15087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18020528" name="Rectangle 2"/>
          <p:cNvSpPr/>
          <p:nvPr/>
        </p:nvSpPr>
        <p:spPr bwMode="auto">
          <a:xfrm>
            <a:off x="0" y="0"/>
            <a:ext cx="109728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1248616" name="TextBox 3"/>
          <p:cNvSpPr txBox="1"/>
          <p:nvPr/>
        </p:nvSpPr>
        <p:spPr bwMode="auto">
          <a:xfrm>
            <a:off x="502920" y="32004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1400" b="1">
                <a:solidFill>
                  <a:srgbClr val="38BDF8"/>
                </a:solidFill>
                <a:latin typeface="Microsoft JhengHei"/>
                <a:ea typeface="Microsoft JhengHei"/>
              </a:rPr>
              <a:t>第二章</a:t>
            </a:r>
            <a:endParaRPr/>
          </a:p>
        </p:txBody>
      </p:sp>
      <p:sp>
        <p:nvSpPr>
          <p:cNvPr id="675918119" name="TextBox 4"/>
          <p:cNvSpPr txBox="1"/>
          <p:nvPr/>
        </p:nvSpPr>
        <p:spPr bwMode="auto">
          <a:xfrm>
            <a:off x="502920" y="594360"/>
            <a:ext cx="4627589" cy="548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3000" b="1">
                <a:solidFill>
                  <a:srgbClr val="F8FAFC"/>
                </a:solidFill>
                <a:latin typeface="Microsoft JhengHei"/>
                <a:ea typeface="Microsoft JhengHei"/>
              </a:rPr>
              <a:t>能做什麼？</a:t>
            </a:r>
            <a:r>
              <a:rPr lang="zh-TW" sz="3000" b="1">
                <a:solidFill>
                  <a:srgbClr val="F8FAFC"/>
                </a:solidFill>
                <a:latin typeface="Microsoft JhengHei"/>
                <a:ea typeface="Microsoft JhengHei"/>
              </a:rPr>
              <a:t>BOT 還是 IDE?</a:t>
            </a:r>
            <a:endParaRPr/>
          </a:p>
        </p:txBody>
      </p:sp>
      <p:sp>
        <p:nvSpPr>
          <p:cNvPr id="1649639817" name="TextBox 5"/>
          <p:cNvSpPr txBox="1"/>
          <p:nvPr/>
        </p:nvSpPr>
        <p:spPr bwMode="auto">
          <a:xfrm>
            <a:off x="502920" y="1143000"/>
            <a:ext cx="183636" cy="3661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endParaRPr/>
          </a:p>
        </p:txBody>
      </p:sp>
      <p:sp>
        <p:nvSpPr>
          <p:cNvPr id="1687802823" name="TextBox 7"/>
          <p:cNvSpPr txBox="1"/>
          <p:nvPr/>
        </p:nvSpPr>
        <p:spPr bwMode="auto">
          <a:xfrm>
            <a:off x="518005" y="1691637"/>
            <a:ext cx="11220117" cy="2524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/>
            </a:pPr>
            <a:r>
              <a:rPr sz="2000" b="0">
                <a:solidFill>
                  <a:srgbClr val="CBD5E1"/>
                </a:solidFill>
                <a:latin typeface="Microsoft JhengHei"/>
                <a:ea typeface="Microsoft JhengHei"/>
              </a:rPr>
              <a:t>•  問答、整理、起草——一般 LLM 都做得到</a:t>
            </a:r>
            <a:endParaRPr/>
          </a:p>
          <a:p>
            <a:pPr>
              <a:spcAft>
                <a:spcPts val="1000"/>
              </a:spcAft>
              <a:defRPr/>
            </a:pPr>
            <a:r>
              <a:rPr sz="2000" b="0">
                <a:solidFill>
                  <a:srgbClr val="CBD5E1"/>
                </a:solidFill>
                <a:latin typeface="Microsoft JhengHei"/>
                <a:ea typeface="Microsoft JhengHei"/>
              </a:rPr>
              <a:t>•  Grok Bot 多出來的是：長期 Bot、群組協作、雲端電腦把事做進工具裡</a:t>
            </a:r>
            <a:endParaRPr/>
          </a:p>
          <a:p>
            <a:pPr>
              <a:spcAft>
                <a:spcPts val="1000"/>
              </a:spcAft>
              <a:defRPr/>
            </a:pPr>
            <a:r>
              <a:rPr sz="2000" b="0">
                <a:solidFill>
                  <a:srgbClr val="CBD5E1"/>
                </a:solidFill>
                <a:latin typeface="Microsoft JhengHei"/>
                <a:ea typeface="Microsoft JhengHei"/>
              </a:rPr>
              <a:t>•  Cursor 多出來的是：直接讀／改你們 repo、對齊現有元件與 API</a:t>
            </a:r>
            <a:endParaRPr/>
          </a:p>
          <a:p>
            <a:pPr>
              <a:spcAft>
                <a:spcPts val="1000"/>
              </a:spcAft>
              <a:defRPr/>
            </a:pPr>
            <a:r>
              <a:rPr sz="2000" b="0">
                <a:solidFill>
                  <a:srgbClr val="CBD5E1"/>
                </a:solidFill>
                <a:latin typeface="Microsoft JhengHei"/>
                <a:ea typeface="Microsoft JhengHei"/>
              </a:rPr>
              <a:t>•  所以不是「誰比較強」，而是「選擇這件事該丟哪個入口」</a:t>
            </a:r>
            <a:endParaRPr sz="2000" b="0">
              <a:solidFill>
                <a:srgbClr val="CBD5E1"/>
              </a:solidFill>
              <a:latin typeface="Microsoft JhengHei"/>
              <a:ea typeface="Microsoft JhengHei"/>
            </a:endParaRPr>
          </a:p>
          <a:p>
            <a:pPr>
              <a:spcAft>
                <a:spcPts val="999"/>
              </a:spcAft>
              <a:defRPr/>
            </a:pPr>
            <a:endParaRPr/>
          </a:p>
          <a:p>
            <a:pPr>
              <a:spcAft>
                <a:spcPts val="999"/>
              </a:spcAft>
              <a:defRPr/>
            </a:pPr>
            <a:r>
              <a:rPr lang="en-US" sz="2000" b="0" i="0" u="none" strike="noStrike" cap="none" spc="0">
                <a:solidFill>
                  <a:srgbClr val="CBD5E1"/>
                </a:solidFill>
                <a:latin typeface="Microsoft JhengHei"/>
                <a:ea typeface="Microsoft JhengHei"/>
                <a:cs typeface="Microsoft JhengHei"/>
              </a:rPr>
              <a:t>•  </a:t>
            </a:r>
            <a:r>
              <a:rPr lang="zh-TW" sz="2000" b="0" i="0" u="none" strike="noStrike" cap="none" spc="0">
                <a:solidFill>
                  <a:srgbClr val="CBD5E1"/>
                </a:solidFill>
                <a:latin typeface="Microsoft JhengHei"/>
                <a:ea typeface="Microsoft JhengHei"/>
                <a:cs typeface="Microsoft JhengHei"/>
              </a:rPr>
              <a:t>目前 Grok Bot 用量與 Cursor 分開計算</a:t>
            </a:r>
            <a:endParaRPr/>
          </a:p>
        </p:txBody>
      </p:sp>
      <p:pic>
        <p:nvPicPr>
          <p:cNvPr id="1838632732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4803775" y="4216628"/>
            <a:ext cx="6934346" cy="255082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2278521" name="Rectangle 1"/>
          <p:cNvSpPr/>
          <p:nvPr/>
        </p:nvSpPr>
        <p:spPr bwMode="auto">
          <a:xfrm>
            <a:off x="-15086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19730570" name="Rectangle 2"/>
          <p:cNvSpPr/>
          <p:nvPr/>
        </p:nvSpPr>
        <p:spPr bwMode="auto">
          <a:xfrm>
            <a:off x="0" y="0"/>
            <a:ext cx="109728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25153577" name="TextBox 4"/>
          <p:cNvSpPr txBox="1"/>
          <p:nvPr/>
        </p:nvSpPr>
        <p:spPr bwMode="auto">
          <a:xfrm>
            <a:off x="502920" y="594360"/>
            <a:ext cx="2088596" cy="548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3000" b="1">
                <a:solidFill>
                  <a:srgbClr val="F8FAFC"/>
                </a:solidFill>
                <a:latin typeface="Microsoft JhengHei"/>
                <a:ea typeface="Microsoft JhengHei"/>
              </a:rPr>
              <a:t>我</a:t>
            </a:r>
            <a:r>
              <a:rPr lang="zh-TW" sz="3000" b="1">
                <a:solidFill>
                  <a:srgbClr val="F8FAFC"/>
                </a:solidFill>
                <a:latin typeface="Microsoft JhengHei"/>
                <a:ea typeface="Microsoft JhengHei"/>
              </a:rPr>
              <a:t>目前劃分</a:t>
            </a:r>
            <a:endParaRPr/>
          </a:p>
        </p:txBody>
      </p:sp>
      <p:sp>
        <p:nvSpPr>
          <p:cNvPr id="2019763806" name="Rounded Rectangle 6"/>
          <p:cNvSpPr/>
          <p:nvPr/>
        </p:nvSpPr>
        <p:spPr bwMode="auto">
          <a:xfrm>
            <a:off x="502920" y="1325880"/>
            <a:ext cx="6766560" cy="46634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56470055" name="TextBox 7"/>
          <p:cNvSpPr txBox="1"/>
          <p:nvPr/>
        </p:nvSpPr>
        <p:spPr bwMode="auto">
          <a:xfrm>
            <a:off x="731520" y="1527048"/>
            <a:ext cx="652182" cy="3661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zh-TW" sz="1800" b="1">
                <a:solidFill>
                  <a:srgbClr val="38BDF8"/>
                </a:solidFill>
                <a:latin typeface="Microsoft JhengHei"/>
                <a:ea typeface="Microsoft JhengHei"/>
              </a:rPr>
              <a:t>BOT</a:t>
            </a:r>
            <a:endParaRPr/>
          </a:p>
        </p:txBody>
      </p:sp>
      <p:sp>
        <p:nvSpPr>
          <p:cNvPr id="360327824" name="TextBox 8"/>
          <p:cNvSpPr txBox="1"/>
          <p:nvPr/>
        </p:nvSpPr>
        <p:spPr bwMode="auto">
          <a:xfrm>
            <a:off x="731520" y="2011680"/>
            <a:ext cx="6660357" cy="1518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/>
            </a:pPr>
            <a:r>
              <a:rPr lang="zh-TW">
                <a:solidFill>
                  <a:schemeClr val="bg1"/>
                </a:solidFill>
              </a:rPr>
              <a:t>例行任務:前端每日AI TOKENS 計算、工項整理 </a:t>
            </a:r>
            <a:endParaRPr/>
          </a:p>
          <a:p>
            <a:pPr>
              <a:spcAft>
                <a:spcPts val="599"/>
              </a:spcAft>
              <a:defRPr/>
            </a:pPr>
            <a:r>
              <a:rPr>
                <a:solidFill>
                  <a:schemeClr val="bg1"/>
                </a:solidFill>
              </a:rPr>
              <a:t>當日行程整理</a:t>
            </a:r>
            <a:r>
              <a:rPr lang="zh-TW">
                <a:solidFill>
                  <a:schemeClr val="bg1"/>
                </a:solidFill>
              </a:rPr>
              <a:t>: 讀取GOOGLE 日歷整理當天會議行程，</a:t>
            </a:r>
            <a:endParaRPr lang="zh-TW">
              <a:solidFill>
                <a:schemeClr val="bg1"/>
              </a:solidFill>
            </a:endParaRPr>
          </a:p>
          <a:p>
            <a:pPr>
              <a:spcAft>
                <a:spcPts val="599"/>
              </a:spcAft>
              <a:defRPr/>
            </a:pPr>
            <a:r>
              <a:rPr lang="zh-TW">
                <a:solidFill>
                  <a:schemeClr val="bg1"/>
                </a:solidFill>
              </a:rPr>
              <a:t>視情況提醒</a:t>
            </a:r>
            <a:endParaRPr lang="zh-TW">
              <a:solidFill>
                <a:schemeClr val="bg1"/>
              </a:solidFill>
            </a:endParaRPr>
          </a:p>
          <a:p>
            <a:pPr>
              <a:spcAft>
                <a:spcPts val="599"/>
              </a:spcAft>
              <a:defRPr/>
            </a:pPr>
            <a:r>
              <a:rPr lang="zh-TW">
                <a:solidFill>
                  <a:schemeClr val="bg1"/>
                </a:solidFill>
              </a:rPr>
              <a:t>群組討論: </a:t>
            </a:r>
            <a:r>
              <a:rPr lang="zh-TW">
                <a:solidFill>
                  <a:schemeClr val="bg1"/>
                </a:solidFill>
              </a:rPr>
              <a:t>需要多角色一起思考需求設計的時候</a:t>
            </a:r>
            <a:endParaRPr lang="zh-TW">
              <a:solidFill>
                <a:schemeClr val="bg1"/>
              </a:solidFill>
            </a:endParaRPr>
          </a:p>
        </p:txBody>
      </p:sp>
      <p:sp>
        <p:nvSpPr>
          <p:cNvPr id="745611728" name="TextBox 10"/>
          <p:cNvSpPr txBox="1"/>
          <p:nvPr/>
        </p:nvSpPr>
        <p:spPr bwMode="auto">
          <a:xfrm>
            <a:off x="762207" y="4068670"/>
            <a:ext cx="1242989" cy="3661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1800" b="1">
                <a:solidFill>
                  <a:srgbClr val="FBBF24"/>
                </a:solidFill>
                <a:latin typeface="Microsoft JhengHei"/>
                <a:ea typeface="Microsoft JhengHei"/>
              </a:rPr>
              <a:t>要進去</a:t>
            </a:r>
            <a:r>
              <a:rPr lang="zh-TW" sz="1800" b="1">
                <a:solidFill>
                  <a:srgbClr val="FBBF24"/>
                </a:solidFill>
                <a:latin typeface="Microsoft JhengHei"/>
                <a:ea typeface="Microsoft JhengHei"/>
              </a:rPr>
              <a:t>IDE</a:t>
            </a:r>
            <a:endParaRPr/>
          </a:p>
        </p:txBody>
      </p:sp>
      <p:sp>
        <p:nvSpPr>
          <p:cNvPr id="842154184" name="TextBox 8"/>
          <p:cNvSpPr txBox="1"/>
          <p:nvPr/>
        </p:nvSpPr>
        <p:spPr bwMode="auto">
          <a:xfrm flipH="0" flipV="0">
            <a:off x="762207" y="4470179"/>
            <a:ext cx="5541359" cy="366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99"/>
              </a:spcAft>
              <a:defRPr/>
            </a:pPr>
            <a:r>
              <a:rPr lang="zh-TW">
                <a:solidFill>
                  <a:schemeClr val="bg1"/>
                </a:solidFill>
              </a:rPr>
              <a:t>日常開發</a:t>
            </a:r>
            <a:endParaRPr lang="zh-TW">
              <a:solidFill>
                <a:schemeClr val="bg1"/>
              </a:solidFill>
            </a:endParaRPr>
          </a:p>
        </p:txBody>
      </p:sp>
      <p:sp>
        <p:nvSpPr>
          <p:cNvPr id="173102802" name="TextBox 3"/>
          <p:cNvSpPr txBox="1"/>
          <p:nvPr/>
        </p:nvSpPr>
        <p:spPr bwMode="auto">
          <a:xfrm>
            <a:off x="502920" y="320040"/>
            <a:ext cx="716994" cy="3051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1400" b="1">
                <a:solidFill>
                  <a:srgbClr val="38BDF8"/>
                </a:solidFill>
                <a:latin typeface="Microsoft JhengHei"/>
                <a:ea typeface="Microsoft JhengHei"/>
              </a:rPr>
              <a:t>第三章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0700430" name="Rectangle 1"/>
          <p:cNvSpPr/>
          <p:nvPr/>
        </p:nvSpPr>
        <p:spPr bwMode="auto">
          <a:xfrm>
            <a:off x="0" y="0"/>
            <a:ext cx="1219169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72339220" name="Rectangle 2"/>
          <p:cNvSpPr/>
          <p:nvPr/>
        </p:nvSpPr>
        <p:spPr bwMode="auto">
          <a:xfrm>
            <a:off x="0" y="0"/>
            <a:ext cx="109728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60953475" name="TextBox 3"/>
          <p:cNvSpPr txBox="1"/>
          <p:nvPr/>
        </p:nvSpPr>
        <p:spPr bwMode="auto">
          <a:xfrm>
            <a:off x="502920" y="320040"/>
            <a:ext cx="183636" cy="3661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endParaRPr/>
          </a:p>
        </p:txBody>
      </p:sp>
      <p:sp>
        <p:nvSpPr>
          <p:cNvPr id="657136312" name="TextBox 4"/>
          <p:cNvSpPr txBox="1"/>
          <p:nvPr/>
        </p:nvSpPr>
        <p:spPr bwMode="auto">
          <a:xfrm>
            <a:off x="502920" y="594360"/>
            <a:ext cx="183636" cy="3661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endParaRPr/>
          </a:p>
        </p:txBody>
      </p:sp>
      <p:sp>
        <p:nvSpPr>
          <p:cNvPr id="1561820091" name="TextBox 7"/>
          <p:cNvSpPr txBox="1"/>
          <p:nvPr/>
        </p:nvSpPr>
        <p:spPr bwMode="auto">
          <a:xfrm>
            <a:off x="752474" y="777419"/>
            <a:ext cx="6279588" cy="548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3000" b="1">
                <a:solidFill>
                  <a:schemeClr val="bg1"/>
                </a:solidFill>
                <a:latin typeface="微軟正黑體"/>
                <a:ea typeface="微軟正黑體"/>
                <a:cs typeface="微軟正黑體"/>
              </a:rPr>
              <a:t>分享結束，</a:t>
            </a:r>
            <a:r>
              <a:rPr sz="3000" b="1">
                <a:solidFill>
                  <a:schemeClr val="bg1"/>
                </a:solidFill>
                <a:latin typeface="微軟正黑體"/>
                <a:ea typeface="微軟正黑體"/>
                <a:cs typeface="微軟正黑體"/>
              </a:rPr>
              <a:t>讓其中一隻小助理來結尾</a:t>
            </a:r>
            <a:endParaRPr b="1">
              <a:solidFill>
                <a:schemeClr val="bg1"/>
              </a:solidFill>
              <a:latin typeface="微軟正黑體"/>
              <a:cs typeface="微軟正黑體"/>
            </a:endParaRPr>
          </a:p>
        </p:txBody>
      </p:sp>
      <p:sp>
        <p:nvSpPr>
          <p:cNvPr id="1289450793" name="TextBox 8"/>
          <p:cNvSpPr txBox="1"/>
          <p:nvPr/>
        </p:nvSpPr>
        <p:spPr bwMode="auto">
          <a:xfrm>
            <a:off x="731520" y="2011680"/>
            <a:ext cx="6653517" cy="366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98"/>
              </a:spcAft>
              <a:defRPr/>
            </a:pPr>
            <a:endParaRPr lang="zh-TW">
              <a:solidFill>
                <a:schemeClr val="bg1"/>
              </a:solidFill>
            </a:endParaRPr>
          </a:p>
        </p:txBody>
      </p:sp>
      <p:sp>
        <p:nvSpPr>
          <p:cNvPr id="81133535" name="TextBox 10"/>
          <p:cNvSpPr txBox="1"/>
          <p:nvPr/>
        </p:nvSpPr>
        <p:spPr bwMode="auto">
          <a:xfrm>
            <a:off x="762206" y="4068669"/>
            <a:ext cx="183636" cy="3661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endParaRPr/>
          </a:p>
        </p:txBody>
      </p:sp>
      <p:sp>
        <p:nvSpPr>
          <p:cNvPr id="1914952614" name="TextBox 8"/>
          <p:cNvSpPr txBox="1"/>
          <p:nvPr/>
        </p:nvSpPr>
        <p:spPr bwMode="auto">
          <a:xfrm flipH="0" flipV="0">
            <a:off x="762206" y="4470178"/>
            <a:ext cx="5541719" cy="366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98"/>
              </a:spcAft>
              <a:defRPr/>
            </a:pPr>
            <a:endParaRPr lang="zh-TW">
              <a:solidFill>
                <a:schemeClr val="bg1"/>
              </a:solidFill>
            </a:endParaRPr>
          </a:p>
        </p:txBody>
      </p:sp>
      <p:sp>
        <p:nvSpPr>
          <p:cNvPr id="171142627" name=""/>
          <p:cNvSpPr txBox="1"/>
          <p:nvPr/>
        </p:nvSpPr>
        <p:spPr bwMode="auto">
          <a:xfrm rot="0" flipH="0" flipV="0">
            <a:off x="731520" y="5644865"/>
            <a:ext cx="11248038" cy="70808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zh-TW">
                <a:solidFill>
                  <a:schemeClr val="bg1"/>
                </a:solidFill>
              </a:rPr>
              <a:t>資料來源:</a:t>
            </a:r>
            <a:endParaRPr>
              <a:solidFill>
                <a:schemeClr val="bg1"/>
              </a:solidFill>
            </a:endParaRPr>
          </a:p>
          <a:p>
            <a:pPr>
              <a:defRPr/>
            </a:pPr>
            <a:r>
              <a:rPr lang="zh-TW">
                <a:solidFill>
                  <a:schemeClr val="bg1"/>
                </a:solidFill>
              </a:rPr>
              <a:t>xAI 官方網站 、 grok bot </a:t>
            </a:r>
            <a:endParaRPr/>
          </a:p>
        </p:txBody>
      </p:sp>
      <p:pic>
        <p:nvPicPr>
          <p:cNvPr id="1087719578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731520" y="1581854"/>
            <a:ext cx="10382249" cy="3200400"/>
          </a:xfrm>
          <a:prstGeom prst="rect">
            <a:avLst/>
          </a:prstGeom>
        </p:spPr>
      </p:pic>
      <p:sp>
        <p:nvSpPr>
          <p:cNvPr id="1308309764" name="TextBox 4"/>
          <p:cNvSpPr txBox="1"/>
          <p:nvPr/>
        </p:nvSpPr>
        <p:spPr bwMode="auto">
          <a:xfrm>
            <a:off x="3446912" y="960480"/>
            <a:ext cx="183636" cy="3661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endParaRPr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113694786" name="TextBox 3"/>
          <p:cNvSpPr txBox="1"/>
          <p:nvPr/>
        </p:nvSpPr>
        <p:spPr bwMode="auto">
          <a:xfrm>
            <a:off x="762205" y="320040"/>
            <a:ext cx="539196" cy="3051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1400" b="1">
                <a:solidFill>
                  <a:srgbClr val="38BDF8"/>
                </a:solidFill>
                <a:latin typeface="Microsoft JhengHei"/>
                <a:ea typeface="Microsoft JhengHei"/>
              </a:rPr>
              <a:t>結尾</a:t>
            </a:r>
            <a:endParaRPr/>
          </a:p>
        </p:txBody>
      </p:sp>
      <p:pic>
        <p:nvPicPr>
          <p:cNvPr id="96312135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9780272" y="472619"/>
            <a:ext cx="1333496" cy="90853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12</cp:revision>
  <dcterms:created xsi:type="dcterms:W3CDTF">2013-01-27T09:14:16Z</dcterms:created>
  <dcterms:modified xsi:type="dcterms:W3CDTF">2026-10-20T05:50:53Z</dcterms:modified>
  <cp:category/>
</cp:coreProperties>
</file>